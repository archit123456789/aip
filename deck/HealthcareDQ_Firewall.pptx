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approach" id="{7b4f2a8e-ad1a-54c3-3f29-277a83402a60}">
          <p14:sldIdLst>
            <p14:sldId id="256"/>
          </p14:sldIdLst>
        </p14:section>
        <p14:section name="Architecture" id="{2ad45e53-c6be-61f3-d3b5-3bf2e24b6d57}">
          <p14:sldIdLst>
            <p14:sldId id="257"/>
          </p14:sldIdLst>
        </p14:section>
        <p14:section name="Results" id="{6b288d42-700e-4d03-4cbb-67788bb8b853}">
          <p14:sldIdLst>
            <p14:sldId id="258"/>
          </p14:sldIdLst>
        </p14:section>
        <p14:section name="Guardrails" id="{866efa83-8a64-09fa-a792-a208b5bd4616}">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j-lt"/>
              </a:defRPr>
            </a:pPr>
            <a:r>
              <a:rPr sz="1400" b="0" i="0" u="none" strike="noStrike">
                <a:solidFill>
                  <a:srgbClr val="000000"/>
                </a:solidFill>
                <a:latin typeface="+mj-lt"/>
              </a:rPr>
              <a:t>Recall by issue type</a:t>
            </a:r>
          </a:p>
        </c:rich>
      </c:tx>
      <c:layout/>
      <c:overlay val="0"/>
    </c:title>
    <c:autoTitleDeleted val="0"/>
    <c:plotArea>
      <c:layout/>
      <c:barChart>
        <c:barDir val="col"/>
        <c:grouping val="clustered"/>
        <c:varyColors val="0"/>
        <c:ser>
          <c:idx val="0"/>
          <c:order val="0"/>
          <c:tx>
            <c:strRef>
              <c:f>Sheet1!$B$1</c:f>
              <c:strCache>
                <c:ptCount val="1"/>
                <c:pt idx="0">
                  <c:v>Rules</c:v>
                </c:pt>
              </c:strCache>
            </c:strRef>
          </c:tx>
          <c:spPr>
            <a:solidFill>
              <a:srgbClr val="BFBFBF"/>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Duplicate</c:v>
                  </c:pt>
                  <c:pt idx="1">
                    <c:v>Contradiction</c:v>
                  </c:pt>
                  <c:pt idx="2">
                    <c:v>Missing</c:v>
                  </c:pt>
                  <c:pt idx="3">
                    <c:v>Temporal</c:v>
                  </c:pt>
                  <c:pt idx="4">
                    <c:v>Terminology</c:v>
                  </c:pt>
                </c:lvl>
              </c:multiLvlStrCache>
            </c:multiLvlStrRef>
          </c:cat>
          <c:val>
            <c:numRef>
              <c:f>Sheet1!$B$2:$B$6</c:f>
              <c:numCache>
                <c:formatCode>General</c:formatCode>
                <c:ptCount val="5"/>
                <c:pt idx="0">
                  <c:v>0.88</c:v>
                </c:pt>
                <c:pt idx="1">
                  <c:v>0.75</c:v>
                </c:pt>
                <c:pt idx="2">
                  <c:v>1</c:v>
                </c:pt>
                <c:pt idx="3">
                  <c:v>0.99</c:v>
                </c:pt>
                <c:pt idx="4">
                  <c:v>0.9</c:v>
                </c:pt>
              </c:numCache>
            </c:numRef>
          </c:val>
        </c:ser>
        <c:ser>
          <c:idx val="1"/>
          <c:order val="1"/>
          <c:tx>
            <c:strRef>
              <c:f>Sheet1!$C$1</c:f>
              <c:strCache>
                <c:ptCount val="1"/>
                <c:pt idx="0">
                  <c:v>LLM-only</c:v>
                </c:pt>
              </c:strCache>
            </c:strRef>
          </c:tx>
          <c:spPr>
            <a:solidFill>
              <a:srgbClr val="7F7F7F"/>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Duplicate</c:v>
                  </c:pt>
                  <c:pt idx="1">
                    <c:v>Contradiction</c:v>
                  </c:pt>
                  <c:pt idx="2">
                    <c:v>Missing</c:v>
                  </c:pt>
                  <c:pt idx="3">
                    <c:v>Temporal</c:v>
                  </c:pt>
                  <c:pt idx="4">
                    <c:v>Terminology</c:v>
                  </c:pt>
                </c:lvl>
              </c:multiLvlStrCache>
            </c:multiLvlStrRef>
          </c:cat>
          <c:val>
            <c:numRef>
              <c:f>Sheet1!$C$2:$C$6</c:f>
              <c:numCache>
                <c:formatCode>General</c:formatCode>
                <c:ptCount val="5"/>
                <c:pt idx="0">
                  <c:v>0.74</c:v>
                </c:pt>
                <c:pt idx="1">
                  <c:v>0.88</c:v>
                </c:pt>
                <c:pt idx="2">
                  <c:v>0.97</c:v>
                </c:pt>
                <c:pt idx="3">
                  <c:v>0.97</c:v>
                </c:pt>
                <c:pt idx="4">
                  <c:v>0.81</c:v>
                </c:pt>
              </c:numCache>
            </c:numRef>
          </c:val>
        </c:ser>
        <c:ser>
          <c:idx val="2"/>
          <c:order val="2"/>
          <c:tx>
            <c:strRef>
              <c:f>Sheet1!$D$1</c:f>
              <c:strCache>
                <c:ptCount val="1"/>
                <c:pt idx="0">
                  <c:v>Hybrid</c:v>
                </c:pt>
              </c:strCache>
            </c:strRef>
          </c:tx>
          <c:spPr>
            <a:solidFill>
              <a:srgbClr val="000000"/>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Duplicate</c:v>
                  </c:pt>
                  <c:pt idx="1">
                    <c:v>Contradiction</c:v>
                  </c:pt>
                  <c:pt idx="2">
                    <c:v>Missing</c:v>
                  </c:pt>
                  <c:pt idx="3">
                    <c:v>Temporal</c:v>
                  </c:pt>
                  <c:pt idx="4">
                    <c:v>Terminology</c:v>
                  </c:pt>
                </c:lvl>
              </c:multiLvlStrCache>
            </c:multiLvlStrRef>
          </c:cat>
          <c:val>
            <c:numRef>
              <c:f>Sheet1!$D$2:$D$6</c:f>
              <c:numCache>
                <c:formatCode>General</c:formatCode>
                <c:ptCount val="5"/>
                <c:pt idx="0">
                  <c:v>0.97</c:v>
                </c:pt>
                <c:pt idx="1">
                  <c:v>1</c:v>
                </c:pt>
                <c:pt idx="2">
                  <c:v>1</c:v>
                </c:pt>
                <c:pt idx="3">
                  <c:v>0.99</c:v>
                </c:pt>
                <c:pt idx="4">
                  <c:v>0.98</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00000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j-lt"/>
              </a:defRPr>
            </a:pPr>
            <a:r>
              <a:rPr sz="1400" b="0" i="0" u="none" strike="noStrike">
                <a:solidFill>
                  <a:srgbClr val="000000"/>
                </a:solidFill>
                <a:latin typeface="+mj-lt"/>
              </a:rPr>
              <a:t>Share of 17 attacks blocked, layers added cumulatively</a:t>
            </a:r>
          </a:p>
        </c:rich>
      </c:tx>
      <c:layout/>
      <c:overlay val="0"/>
    </c:title>
    <c:autoTitleDeleted val="0"/>
    <c:plotArea>
      <c:layout/>
      <c:barChart>
        <c:barDir val="bar"/>
        <c:grouping val="clustered"/>
        <c:varyColors val="0"/>
        <c:ser>
          <c:idx val="0"/>
          <c:order val="0"/>
          <c:tx>
            <c:strRef>
              <c:f>Sheet1!$B$1</c:f>
              <c:strCache>
                <c:ptCount val="1"/>
                <c:pt idx="0">
                  <c:v>Attacks blocked</c:v>
                </c:pt>
              </c:strCache>
            </c:strRef>
          </c:tx>
          <c:spPr>
            <a:solidFill>
              <a:srgbClr val="7F7F7F"/>
            </a:solidFill>
            <a:effectLst/>
          </c:spPr>
          <c:invertIfNegative val="0"/>
          <c:dLbls>
            <c:numFmt formatCode="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7F7F7F"/>
              </a:solidFill>
              <a:effectLst/>
            </c:spPr>
          </c:dPt>
          <c:dPt>
            <c:idx val="4"/>
            <c:invertIfNegative val="0"/>
            <c:bubble3D val="0"/>
            <c:spPr>
              <a:solidFill>
                <a:srgbClr val="000000"/>
              </a:solidFill>
              <a:effectLst/>
            </c:spPr>
          </c:dPt>
          <c:dPt>
            <c:idx val="5"/>
            <c:invertIfNegative val="0"/>
            <c:bubble3D val="0"/>
            <c:spPr>
              <a:solidFill>
                <a:srgbClr val="7F7F7F"/>
              </a:solidFill>
              <a:effectLst/>
            </c:spPr>
          </c:dPt>
          <c:dPt>
            <c:idx val="6"/>
            <c:invertIfNegative val="0"/>
            <c:bubble3D val="0"/>
            <c:spPr>
              <a:solidFill>
                <a:srgbClr val="000000"/>
              </a:solidFill>
              <a:effectLst/>
            </c:spPr>
          </c:dPt>
          <c:cat>
            <c:multiLvlStrRef>
              <c:f>Sheet1!$A$2:$A$8</c:f>
              <c:multiLvlStrCache>
                <c:ptCount val="7"/>
                <c:lvl>
                  <c:pt idx="0">
                    <c:v>L0 no guards</c:v>
                  </c:pt>
                  <c:pt idx="1">
                    <c:v>L2a detector v1</c:v>
                  </c:pt>
                  <c:pt idx="2">
                    <c:v>L2b detector v2</c:v>
                  </c:pt>
                  <c:pt idx="3">
                    <c:v>L3 typed output</c:v>
                  </c:pt>
                  <c:pt idx="4">
                    <c:v>L4 privilege limits</c:v>
                  </c:pt>
                  <c:pt idx="5">
                    <c:v>L5 output filter</c:v>
                  </c:pt>
                  <c:pt idx="6">
                    <c:v>L6 verdict check</c:v>
                  </c:pt>
                </c:lvl>
              </c:multiLvlStrCache>
            </c:multiLvlStrRef>
          </c:cat>
          <c:val>
            <c:numRef>
              <c:f>Sheet1!$B$2:$B$8</c:f>
              <c:numCache>
                <c:formatCode>General</c:formatCode>
                <c:ptCount val="7"/>
                <c:pt idx="0">
                  <c:v>0</c:v>
                </c:pt>
                <c:pt idx="1">
                  <c:v>0.29</c:v>
                </c:pt>
                <c:pt idx="2">
                  <c:v>0.29</c:v>
                </c:pt>
                <c:pt idx="3">
                  <c:v>0.35</c:v>
                </c:pt>
                <c:pt idx="4">
                  <c:v>0.82</c:v>
                </c:pt>
                <c:pt idx="5">
                  <c:v>0.94</c:v>
                </c:pt>
                <c:pt idx="6">
                  <c:v>1</c:v>
                </c:pt>
              </c:numCache>
            </c:numRef>
          </c:val>
        </c:ser>
        <c:dLbls>
          <c:numFmt formatCode="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Healthcare. Problem: one patient's record is split across hospitals and clinics, each with its own ID, name format and wording. Errors flow into clinical AI and analytics. We built a quality firewall that flags problems for a human reviewer; it makes no clinical decisions. Five issue types, one example each (read the table). Data is synthetic by design: a generator builds a hidden true history, fragments it across 2 to 4 sources, injects known problems and records them as an exact answer key (1,416 issues, 1,070 of them terminology). No real patient data anywhere. Build sequence follows the course: rules baseline, LLM-only baseline, hybrid, then the two additions for this assignment (shaded): RAG and an agent with tools, guardrails and a red-team (Lab 6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Linkage first: records from different sources are re-linked to one patient by fuzzy name, birth date and sex (pair recall 0.985). Rules then run all five checks and attach evidence to every issue. Only the residual goes to Gemini (dark box): unfamiliar terms to map, notes that contain negations, borderline duplicate pairs, and explanation text. Each LLM answer is guarded: term mappings must come from the supplied vocabulary, and a note finding must quote the note verbatim and contain a negation cue. After the LLM maps terms, the rules run a second pass, which is how 334 extra correct flags appear. 1,003 of the 1,369 flags are rules alone. RAG: a small knowledge base of 10 fictional guideline documents plus 63 vocabulary concepts, with a dependency-free lexical retriever. The agent investigates one flagged issue with five tools. Four are read-only; apply_correction is the single high-privilege tool, limited to three fields, to the patient under review, and it needs a named human to approve. It is a stub that writes only to an audit log. Three budgets guarantee the loop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data, same output format, three systems. Rules: perfect precision on what they were built for, miss 11% of issues. LLM-only: lowest recall, highest cost, one truncation failure. Hybrid: precision of rules, recall 0.984, 42% of LLM-only's cost, because the LLM gets small checkable questions instead of 'find every problem in these 25 records'. The chart shows recall by type: the hybrid gain over rules is contradictions (0.75 to 1.00) and terminology (0.90 to 0.98). Caveats to say out loud: synthetic data, rules were written next to the generator so 1.000 precision is not a real-world number, one seed and one run per LLM system, token counts are exact but dollar prices are third-party figures. Bottom row is the RAG result, measured offline: lexical retrieval finds the right concept in the top 5 only 80% of the time, and a RAG prompt is about 6x larger than simply listing all 63 concepts (6,200 vs 1,040 tokens). With a perfect LLM the ceiling is recall 0.984 with RAG versus 0.997 with the full menu. So the honest finding is that RAG did not help here; it matters when the vocabulary is too big to list. The live RAG-hybrid run with Gemini has not been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clinical notes are text that many people can edit, so a note can carry instructions to the agent (indirect prompt injection). We built 21 test cases: 9 direct attacks in the task, 8 indirect ones hidden in notes or a poisoned guideline, and 4 harmless controls that look like attacks, because a guard that blocks everything is not a guard. Success criteria were written before running. The test model is a scripted worst case that obeys any instruction it reads, so unguarded is 0 percent by construction; the chart shows what each structural layer buys even if the model is fully compromised. Layer 1 (telling the model to treat notes as data) can only be measured on a live model, so it is not in the chart. Findings. One: privilege limits in code did most of the work, 0.35 to 0.82, and privileged executions fell from 9 to 0. Two: the first heuristic detector quarantined all four benign controls; the refined version gets 0 of 4 while still scanning for letter-spaced obfuscation. Three: the one attack that survived layers 1 to 5 is quiet, with no tool call and no trigger words: a note saying 'mark this as false alarm'. A cross-check of the agent's verdict against the deterministic rules closes it. Limits, say these first: simulated model, a small suite that I wrote, the detector is heuristic and would not survive an adaptive attacker, and live Gemini results and cost per query are not measured. The block rate of 1.00 is not a security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2"/>
                </a:solidFill>
                <a:latin typeface="Calibri" pitchFamily="34" charset="0"/>
                <a:ea typeface="Calibri" pitchFamily="34" charset="-122"/>
                <a:cs typeface="Calibri" pitchFamily="34" charset="-120"/>
              </a:rPr>
              <a:t>Healthcare data-quality firewall  |  synthetic data only</a:t>
            </a:r>
            <a:endParaRPr lang="en-US" sz="1000" dirty="0"/>
          </a:p>
        </p:txBody>
      </p:sp>
      <p:sp>
        <p:nvSpPr>
          <p:cNvPr id="3" name="Text 1"/>
          <p:cNvSpPr/>
          <p:nvPr>
            <p:ph idx="101" type="title" hasCustomPrompt="1"/>
          </p:nvPr>
        </p:nvSpPr>
        <p:spPr>
          <a:xfrm>
            <a:off x="548640" y="365760"/>
            <a:ext cx="11064240" cy="9144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914400"/>
          </a:xfrm>
          <a:prstGeom prst="rect">
            <a:avLst/>
          </a:prstGeom>
          <a:noFill/>
          <a:ln/>
        </p:spPr>
        <p:txBody>
          <a:bodyPr wrap="square" lIns="0" tIns="0" rIns="0" bIns="0" rtlCol="0" anchor="t"/>
          <a:lstStyle/>
          <a:p>
            <a:pPr algn="l" indent="0" marL="0">
              <a:buNone/>
            </a:pPr>
            <a:r>
              <a:rPr lang="en-US" sz="3000" b="1" dirty="0">
                <a:solidFill>
                  <a:schemeClr val="tx1"/>
                </a:solidFill>
              </a:rPr>
              <a:t>Fragmented patient records corrupt downstream AI. We flag the errors; a human decides</a:t>
            </a:r>
            <a:endParaRPr lang="en-US" sz="3000" dirty="0"/>
          </a:p>
        </p:txBody>
      </p:sp>
      <p:sp>
        <p:nvSpPr>
          <p:cNvPr id="3" name="Text 1"/>
          <p:cNvSpPr txBox="1"/>
          <p:nvPr/>
        </p:nvSpPr>
        <p:spPr>
          <a:xfrm>
            <a:off x="548640" y="1645920"/>
            <a:ext cx="6035040" cy="32004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Five issue types</a:t>
            </a:r>
            <a:endParaRPr lang="en-US" sz="1400" dirty="0"/>
          </a:p>
        </p:txBody>
      </p:sp>
      <p:graphicFrame>
        <p:nvGraphicFramePr>
          <p:cNvPr id="2" name="issue-table"/>
          <p:cNvGraphicFramePr>
            <a:graphicFrameLocks noGrp="1"/>
          </p:cNvGraphicFramePr>
          <p:nvPr>
            <p:extLst>
              <p:ext uri="{D42A27DB-BD31-4B8C-83A1-F6EECF244321}">
                <p14:modId xmlns:p14="http://schemas.microsoft.com/office/powerpoint/2010/main" val="1579011935"/>
              </p:ext>
            </p:extLst>
          </p:nvPr>
        </p:nvGraphicFramePr>
        <p:xfrm>
          <a:off x="548640" y="2011680"/>
          <a:ext cx="6035040" cy="914400"/>
        </p:xfrm>
        <a:graphic>
          <a:graphicData uri="http://schemas.openxmlformats.org/drawingml/2006/table">
            <a:tbl>
              <a:tblPr/>
              <a:tblGrid>
                <a:gridCol w="1554480"/>
                <a:gridCol w="4480560"/>
              </a:tblGrid>
              <a:tr h="475488">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Duplicate</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Same visit stored twice, in two systems</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Contradiction</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Penicillin allergy, then "no known allergies"</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Missing</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No birth date, dose or allergy status</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Temporal</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Drug ends before it starts</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Terminology</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MI, heart attack, myocardial infarction</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bl>
          </a:graphicData>
        </a:graphic>
      </p:graphicFrame>
      <p:sp>
        <p:nvSpPr>
          <p:cNvPr id="5" name="Text 2"/>
          <p:cNvSpPr txBox="1"/>
          <p:nvPr/>
        </p:nvSpPr>
        <p:spPr>
          <a:xfrm>
            <a:off x="7040880" y="1645920"/>
            <a:ext cx="2468880" cy="82296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1,416</a:t>
            </a:r>
            <a:endParaRPr lang="en-US" sz="4400" dirty="0"/>
          </a:p>
        </p:txBody>
      </p:sp>
      <p:sp>
        <p:nvSpPr>
          <p:cNvPr id="6" name="Text 3"/>
          <p:cNvSpPr txBox="1"/>
          <p:nvPr/>
        </p:nvSpPr>
        <p:spPr>
          <a:xfrm>
            <a:off x="9601200" y="1645920"/>
            <a:ext cx="2011680" cy="8229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planted issues: exact answer key</a:t>
            </a:r>
            <a:endParaRPr lang="en-US" sz="1400" dirty="0"/>
          </a:p>
        </p:txBody>
      </p:sp>
      <p:sp>
        <p:nvSpPr>
          <p:cNvPr id="7" name="Text 4"/>
          <p:cNvSpPr txBox="1"/>
          <p:nvPr/>
        </p:nvSpPr>
        <p:spPr>
          <a:xfrm>
            <a:off x="7040880" y="2651760"/>
            <a:ext cx="2468880" cy="82296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1,033</a:t>
            </a:r>
            <a:endParaRPr lang="en-US" sz="4400" dirty="0"/>
          </a:p>
        </p:txBody>
      </p:sp>
      <p:sp>
        <p:nvSpPr>
          <p:cNvPr id="8" name="Text 5"/>
          <p:cNvSpPr txBox="1"/>
          <p:nvPr/>
        </p:nvSpPr>
        <p:spPr>
          <a:xfrm>
            <a:off x="9601200" y="2651760"/>
            <a:ext cx="2011680" cy="8229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records, 300 patients, 5 source systems</a:t>
            </a:r>
            <a:endParaRPr lang="en-US" sz="1400" dirty="0"/>
          </a:p>
        </p:txBody>
      </p:sp>
      <p:sp>
        <p:nvSpPr>
          <p:cNvPr id="9" name="Text 6"/>
          <p:cNvSpPr txBox="1"/>
          <p:nvPr/>
        </p:nvSpPr>
        <p:spPr>
          <a:xfrm>
            <a:off x="7040880" y="3657600"/>
            <a:ext cx="2468880" cy="82296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0</a:t>
            </a:r>
            <a:endParaRPr lang="en-US" sz="4400" dirty="0"/>
          </a:p>
        </p:txBody>
      </p:sp>
      <p:sp>
        <p:nvSpPr>
          <p:cNvPr id="10" name="Text 7"/>
          <p:cNvSpPr txBox="1"/>
          <p:nvPr/>
        </p:nvSpPr>
        <p:spPr>
          <a:xfrm>
            <a:off x="9601200" y="3657600"/>
            <a:ext cx="2011680" cy="8229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real patients: synthetic data only</a:t>
            </a:r>
            <a:endParaRPr lang="en-US" sz="1400" dirty="0"/>
          </a:p>
        </p:txBody>
      </p:sp>
      <p:sp>
        <p:nvSpPr>
          <p:cNvPr id="11" name="Text 8"/>
          <p:cNvSpPr txBox="1"/>
          <p:nvPr/>
        </p:nvSpPr>
        <p:spPr>
          <a:xfrm>
            <a:off x="548640" y="4754880"/>
            <a:ext cx="5486400" cy="32004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Build sequence (course order)</a:t>
            </a:r>
            <a:endParaRPr lang="en-US" sz="1400" dirty="0"/>
          </a:p>
        </p:txBody>
      </p:sp>
      <p:sp>
        <p:nvSpPr>
          <p:cNvPr id="12" name="seq-box-1"/>
          <p:cNvSpPr/>
          <p:nvPr/>
        </p:nvSpPr>
        <p:spPr>
          <a:xfrm>
            <a:off x="548640" y="5166360"/>
            <a:ext cx="1920240" cy="731520"/>
          </a:xfrm>
          <a:prstGeom prst="rect">
            <a:avLst/>
          </a:prstGeom>
          <a:solidFill>
            <a:schemeClr val="bg1"/>
          </a:solidFill>
          <a:ln w="12700">
            <a:solidFill>
              <a:schemeClr val="tx1"/>
            </a:solidFill>
            <a:prstDash val="solid"/>
          </a:ln>
        </p:spPr>
      </p:sp>
      <p:sp>
        <p:nvSpPr>
          <p:cNvPr id="13" name="Text 10"/>
          <p:cNvSpPr txBox="1"/>
          <p:nvPr/>
        </p:nvSpPr>
        <p:spPr>
          <a:xfrm>
            <a:off x="548640" y="5166360"/>
            <a:ext cx="192024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Rules baseline</a:t>
            </a:r>
            <a:endParaRPr lang="en-US" sz="1400" dirty="0"/>
          </a:p>
        </p:txBody>
      </p:sp>
      <p:sp>
        <p:nvSpPr>
          <p:cNvPr id="14" name="seq-arrow-1"/>
          <p:cNvSpPr/>
          <p:nvPr/>
        </p:nvSpPr>
        <p:spPr>
          <a:xfrm>
            <a:off x="2496312" y="5532120"/>
            <a:ext cx="310896" cy="0"/>
          </a:xfrm>
          <a:prstGeom prst="line">
            <a:avLst/>
          </a:prstGeom>
          <a:noFill/>
          <a:ln w="15875">
            <a:solidFill>
              <a:schemeClr val="tx1"/>
            </a:solidFill>
            <a:prstDash val="solid"/>
            <a:tailEnd type="triangle"/>
          </a:ln>
        </p:spPr>
      </p:sp>
      <p:sp>
        <p:nvSpPr>
          <p:cNvPr id="15" name="seq-box-2"/>
          <p:cNvSpPr/>
          <p:nvPr/>
        </p:nvSpPr>
        <p:spPr>
          <a:xfrm>
            <a:off x="2834640" y="5166360"/>
            <a:ext cx="1920240" cy="731520"/>
          </a:xfrm>
          <a:prstGeom prst="rect">
            <a:avLst/>
          </a:prstGeom>
          <a:solidFill>
            <a:schemeClr val="bg1"/>
          </a:solidFill>
          <a:ln w="12700">
            <a:solidFill>
              <a:schemeClr val="tx1"/>
            </a:solidFill>
            <a:prstDash val="solid"/>
          </a:ln>
        </p:spPr>
      </p:sp>
      <p:sp>
        <p:nvSpPr>
          <p:cNvPr id="16" name="Text 13"/>
          <p:cNvSpPr txBox="1"/>
          <p:nvPr/>
        </p:nvSpPr>
        <p:spPr>
          <a:xfrm>
            <a:off x="2834640" y="5166360"/>
            <a:ext cx="192024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LLM-only baseline</a:t>
            </a:r>
            <a:endParaRPr lang="en-US" sz="1400" dirty="0"/>
          </a:p>
        </p:txBody>
      </p:sp>
      <p:sp>
        <p:nvSpPr>
          <p:cNvPr id="17" name="seq-arrow-2"/>
          <p:cNvSpPr/>
          <p:nvPr/>
        </p:nvSpPr>
        <p:spPr>
          <a:xfrm>
            <a:off x="4782312" y="5532120"/>
            <a:ext cx="310896" cy="0"/>
          </a:xfrm>
          <a:prstGeom prst="line">
            <a:avLst/>
          </a:prstGeom>
          <a:noFill/>
          <a:ln w="15875">
            <a:solidFill>
              <a:schemeClr val="tx1"/>
            </a:solidFill>
            <a:prstDash val="solid"/>
            <a:tailEnd type="triangle"/>
          </a:ln>
        </p:spPr>
      </p:sp>
      <p:sp>
        <p:nvSpPr>
          <p:cNvPr id="18" name="seq-box-3"/>
          <p:cNvSpPr/>
          <p:nvPr/>
        </p:nvSpPr>
        <p:spPr>
          <a:xfrm>
            <a:off x="5120640" y="5166360"/>
            <a:ext cx="1920240" cy="731520"/>
          </a:xfrm>
          <a:prstGeom prst="rect">
            <a:avLst/>
          </a:prstGeom>
          <a:solidFill>
            <a:schemeClr val="bg1"/>
          </a:solidFill>
          <a:ln w="12700">
            <a:solidFill>
              <a:schemeClr val="tx1"/>
            </a:solidFill>
            <a:prstDash val="solid"/>
          </a:ln>
        </p:spPr>
      </p:sp>
      <p:sp>
        <p:nvSpPr>
          <p:cNvPr id="19" name="Text 16"/>
          <p:cNvSpPr txBox="1"/>
          <p:nvPr/>
        </p:nvSpPr>
        <p:spPr>
          <a:xfrm>
            <a:off x="5120640" y="5166360"/>
            <a:ext cx="192024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Hybrid rules + LLM</a:t>
            </a:r>
            <a:endParaRPr lang="en-US" sz="1400" dirty="0"/>
          </a:p>
        </p:txBody>
      </p:sp>
      <p:sp>
        <p:nvSpPr>
          <p:cNvPr id="20" name="seq-arrow-3"/>
          <p:cNvSpPr/>
          <p:nvPr/>
        </p:nvSpPr>
        <p:spPr>
          <a:xfrm>
            <a:off x="7068312" y="5532120"/>
            <a:ext cx="310896" cy="0"/>
          </a:xfrm>
          <a:prstGeom prst="line">
            <a:avLst/>
          </a:prstGeom>
          <a:noFill/>
          <a:ln w="15875">
            <a:solidFill>
              <a:schemeClr val="tx1"/>
            </a:solidFill>
            <a:prstDash val="solid"/>
            <a:tailEnd type="triangle"/>
          </a:ln>
        </p:spPr>
      </p:sp>
      <p:sp>
        <p:nvSpPr>
          <p:cNvPr id="21" name="seq-box-4"/>
          <p:cNvSpPr/>
          <p:nvPr/>
        </p:nvSpPr>
        <p:spPr>
          <a:xfrm>
            <a:off x="7406640" y="5166360"/>
            <a:ext cx="1920240" cy="731520"/>
          </a:xfrm>
          <a:prstGeom prst="rect">
            <a:avLst/>
          </a:prstGeom>
          <a:solidFill>
            <a:schemeClr val="bg2"/>
          </a:solidFill>
          <a:ln w="12700">
            <a:solidFill>
              <a:schemeClr val="tx1"/>
            </a:solidFill>
            <a:prstDash val="solid"/>
          </a:ln>
        </p:spPr>
      </p:sp>
      <p:sp>
        <p:nvSpPr>
          <p:cNvPr id="22" name="Text 19"/>
          <p:cNvSpPr txBox="1"/>
          <p:nvPr/>
        </p:nvSpPr>
        <p:spPr>
          <a:xfrm>
            <a:off x="7406640" y="5166360"/>
            <a:ext cx="192024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RAG</a:t>
            </a:r>
            <a:endParaRPr lang="en-US" sz="1400" dirty="0"/>
          </a:p>
        </p:txBody>
      </p:sp>
      <p:sp>
        <p:nvSpPr>
          <p:cNvPr id="23" name="seq-arrow-4"/>
          <p:cNvSpPr/>
          <p:nvPr/>
        </p:nvSpPr>
        <p:spPr>
          <a:xfrm>
            <a:off x="9354312" y="5532120"/>
            <a:ext cx="310896" cy="0"/>
          </a:xfrm>
          <a:prstGeom prst="line">
            <a:avLst/>
          </a:prstGeom>
          <a:noFill/>
          <a:ln w="15875">
            <a:solidFill>
              <a:schemeClr val="tx1"/>
            </a:solidFill>
            <a:prstDash val="solid"/>
            <a:tailEnd type="triangle"/>
          </a:ln>
        </p:spPr>
      </p:sp>
      <p:sp>
        <p:nvSpPr>
          <p:cNvPr id="24" name="seq-box-5"/>
          <p:cNvSpPr/>
          <p:nvPr/>
        </p:nvSpPr>
        <p:spPr>
          <a:xfrm>
            <a:off x="9692640" y="5166360"/>
            <a:ext cx="1920240" cy="731520"/>
          </a:xfrm>
          <a:prstGeom prst="rect">
            <a:avLst/>
          </a:prstGeom>
          <a:solidFill>
            <a:schemeClr val="bg2"/>
          </a:solidFill>
          <a:ln w="12700">
            <a:solidFill>
              <a:schemeClr val="tx1"/>
            </a:solidFill>
            <a:prstDash val="solid"/>
          </a:ln>
        </p:spPr>
      </p:sp>
      <p:sp>
        <p:nvSpPr>
          <p:cNvPr id="25" name="Text 22"/>
          <p:cNvSpPr txBox="1"/>
          <p:nvPr/>
        </p:nvSpPr>
        <p:spPr>
          <a:xfrm>
            <a:off x="9692640" y="5166360"/>
            <a:ext cx="192024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Agent + red-team</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914400"/>
          </a:xfrm>
          <a:prstGeom prst="rect">
            <a:avLst/>
          </a:prstGeom>
          <a:noFill/>
          <a:ln/>
        </p:spPr>
        <p:txBody>
          <a:bodyPr wrap="square" lIns="0" tIns="0" rIns="0" bIns="0" rtlCol="0" anchor="t"/>
          <a:lstStyle/>
          <a:p>
            <a:pPr algn="l" indent="0" marL="0">
              <a:buNone/>
            </a:pPr>
            <a:r>
              <a:rPr lang="en-US" sz="3000" b="1" dirty="0">
                <a:solidFill>
                  <a:schemeClr val="tx1"/>
                </a:solidFill>
              </a:rPr>
              <a:t>Rules decide the clear cases; Gemini sees only what rules cannot</a:t>
            </a:r>
            <a:endParaRPr lang="en-US" sz="3000" dirty="0"/>
          </a:p>
        </p:txBody>
      </p:sp>
      <p:sp>
        <p:nvSpPr>
          <p:cNvPr id="3" name="flow-box-1"/>
          <p:cNvSpPr/>
          <p:nvPr/>
        </p:nvSpPr>
        <p:spPr>
          <a:xfrm>
            <a:off x="548640" y="1463040"/>
            <a:ext cx="1600200" cy="914400"/>
          </a:xfrm>
          <a:prstGeom prst="rect">
            <a:avLst/>
          </a:prstGeom>
          <a:solidFill>
            <a:schemeClr val="bg1"/>
          </a:solidFill>
          <a:ln w="12700">
            <a:solidFill>
              <a:schemeClr val="tx1"/>
            </a:solidFill>
            <a:prstDash val="solid"/>
          </a:ln>
        </p:spPr>
      </p:sp>
      <p:sp>
        <p:nvSpPr>
          <p:cNvPr id="4" name="Text 2"/>
          <p:cNvSpPr txBox="1"/>
          <p:nvPr/>
        </p:nvSpPr>
        <p:spPr>
          <a:xfrm>
            <a:off x="621792" y="1463040"/>
            <a:ext cx="1453896" cy="91440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Records</a:t>
            </a:r>
            <a:endParaRPr lang="en-US" sz="1400" dirty="0"/>
          </a:p>
          <a:p>
            <a:pPr algn="ctr" indent="0" marL="0">
              <a:buNone/>
            </a:pPr>
            <a:r>
              <a:rPr lang="en-US" sz="1200" dirty="0">
                <a:solidFill>
                  <a:schemeClr val="tx1"/>
                </a:solidFill>
                <a:latin typeface="Calibri" pitchFamily="34" charset="0"/>
                <a:ea typeface="Calibri" pitchFamily="34" charset="-122"/>
                <a:cs typeface="Calibri" pitchFamily="34" charset="-120"/>
              </a:rPr>
              <a:t>5 sources, no shared ID</a:t>
            </a:r>
            <a:endParaRPr lang="en-US" sz="1400" dirty="0"/>
          </a:p>
        </p:txBody>
      </p:sp>
      <p:sp>
        <p:nvSpPr>
          <p:cNvPr id="5" name="flow-arrow-1"/>
          <p:cNvSpPr/>
          <p:nvPr/>
        </p:nvSpPr>
        <p:spPr>
          <a:xfrm>
            <a:off x="2176272" y="1920240"/>
            <a:ext cx="237744" cy="0"/>
          </a:xfrm>
          <a:prstGeom prst="line">
            <a:avLst/>
          </a:prstGeom>
          <a:noFill/>
          <a:ln w="15875">
            <a:solidFill>
              <a:schemeClr val="tx1"/>
            </a:solidFill>
            <a:prstDash val="solid"/>
            <a:tailEnd type="triangle"/>
          </a:ln>
        </p:spPr>
      </p:sp>
      <p:sp>
        <p:nvSpPr>
          <p:cNvPr id="6" name="flow-box-2"/>
          <p:cNvSpPr/>
          <p:nvPr/>
        </p:nvSpPr>
        <p:spPr>
          <a:xfrm>
            <a:off x="2441448" y="1463040"/>
            <a:ext cx="1600200" cy="914400"/>
          </a:xfrm>
          <a:prstGeom prst="rect">
            <a:avLst/>
          </a:prstGeom>
          <a:solidFill>
            <a:schemeClr val="bg1"/>
          </a:solidFill>
          <a:ln w="12700">
            <a:solidFill>
              <a:schemeClr val="tx1"/>
            </a:solidFill>
            <a:prstDash val="solid"/>
          </a:ln>
        </p:spPr>
      </p:sp>
      <p:sp>
        <p:nvSpPr>
          <p:cNvPr id="7" name="Text 5"/>
          <p:cNvSpPr txBox="1"/>
          <p:nvPr/>
        </p:nvSpPr>
        <p:spPr>
          <a:xfrm>
            <a:off x="2514600" y="1463040"/>
            <a:ext cx="1453896" cy="91440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Linkage</a:t>
            </a:r>
            <a:endParaRPr lang="en-US" sz="1400" dirty="0"/>
          </a:p>
          <a:p>
            <a:pPr algn="ctr" indent="0" marL="0">
              <a:buNone/>
            </a:pPr>
            <a:r>
              <a:rPr lang="en-US" sz="1200" dirty="0">
                <a:solidFill>
                  <a:schemeClr val="tx1"/>
                </a:solidFill>
                <a:latin typeface="Calibri" pitchFamily="34" charset="0"/>
                <a:ea typeface="Calibri" pitchFamily="34" charset="-122"/>
                <a:cs typeface="Calibri" pitchFamily="34" charset="-120"/>
              </a:rPr>
              <a:t>fuzzy name, birth date, sex</a:t>
            </a:r>
            <a:endParaRPr lang="en-US" sz="1400" dirty="0"/>
          </a:p>
        </p:txBody>
      </p:sp>
      <p:sp>
        <p:nvSpPr>
          <p:cNvPr id="8" name="flow-arrow-2"/>
          <p:cNvSpPr/>
          <p:nvPr/>
        </p:nvSpPr>
        <p:spPr>
          <a:xfrm>
            <a:off x="4069080" y="1920240"/>
            <a:ext cx="237744" cy="0"/>
          </a:xfrm>
          <a:prstGeom prst="line">
            <a:avLst/>
          </a:prstGeom>
          <a:noFill/>
          <a:ln w="15875">
            <a:solidFill>
              <a:schemeClr val="tx1"/>
            </a:solidFill>
            <a:prstDash val="solid"/>
            <a:tailEnd type="triangle"/>
          </a:ln>
        </p:spPr>
      </p:sp>
      <p:sp>
        <p:nvSpPr>
          <p:cNvPr id="9" name="flow-box-3"/>
          <p:cNvSpPr/>
          <p:nvPr/>
        </p:nvSpPr>
        <p:spPr>
          <a:xfrm>
            <a:off x="4334256" y="1463040"/>
            <a:ext cx="1600200" cy="914400"/>
          </a:xfrm>
          <a:prstGeom prst="rect">
            <a:avLst/>
          </a:prstGeom>
          <a:solidFill>
            <a:schemeClr val="bg1"/>
          </a:solidFill>
          <a:ln w="12700">
            <a:solidFill>
              <a:schemeClr val="tx1"/>
            </a:solidFill>
            <a:prstDash val="solid"/>
          </a:ln>
        </p:spPr>
      </p:sp>
      <p:sp>
        <p:nvSpPr>
          <p:cNvPr id="10" name="Text 8"/>
          <p:cNvSpPr txBox="1"/>
          <p:nvPr/>
        </p:nvSpPr>
        <p:spPr>
          <a:xfrm>
            <a:off x="4407408" y="1463040"/>
            <a:ext cx="1453896" cy="91440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Rules</a:t>
            </a:r>
            <a:endParaRPr lang="en-US" sz="1400" dirty="0"/>
          </a:p>
          <a:p>
            <a:pPr algn="ctr" indent="0" marL="0">
              <a:buNone/>
            </a:pPr>
            <a:r>
              <a:rPr lang="en-US" sz="1200" dirty="0">
                <a:solidFill>
                  <a:schemeClr val="tx1"/>
                </a:solidFill>
                <a:latin typeface="Calibri" pitchFamily="34" charset="0"/>
                <a:ea typeface="Calibri" pitchFamily="34" charset="-122"/>
                <a:cs typeface="Calibri" pitchFamily="34" charset="-120"/>
              </a:rPr>
              <a:t>all five issue types</a:t>
            </a:r>
            <a:endParaRPr lang="en-US" sz="1400" dirty="0"/>
          </a:p>
        </p:txBody>
      </p:sp>
      <p:sp>
        <p:nvSpPr>
          <p:cNvPr id="11" name="flow-arrow-3"/>
          <p:cNvSpPr/>
          <p:nvPr/>
        </p:nvSpPr>
        <p:spPr>
          <a:xfrm>
            <a:off x="5961888" y="1920240"/>
            <a:ext cx="237744" cy="0"/>
          </a:xfrm>
          <a:prstGeom prst="line">
            <a:avLst/>
          </a:prstGeom>
          <a:noFill/>
          <a:ln w="15875">
            <a:solidFill>
              <a:schemeClr val="tx1"/>
            </a:solidFill>
            <a:prstDash val="solid"/>
            <a:tailEnd type="triangle"/>
          </a:ln>
        </p:spPr>
      </p:sp>
      <p:sp>
        <p:nvSpPr>
          <p:cNvPr id="12" name="flow-box-4"/>
          <p:cNvSpPr/>
          <p:nvPr/>
        </p:nvSpPr>
        <p:spPr>
          <a:xfrm>
            <a:off x="6227064" y="1463040"/>
            <a:ext cx="1600200" cy="914400"/>
          </a:xfrm>
          <a:prstGeom prst="rect">
            <a:avLst/>
          </a:prstGeom>
          <a:solidFill>
            <a:schemeClr val="tx1"/>
          </a:solidFill>
          <a:ln w="12700">
            <a:solidFill>
              <a:schemeClr val="tx1"/>
            </a:solidFill>
            <a:prstDash val="solid"/>
          </a:ln>
        </p:spPr>
      </p:sp>
      <p:sp>
        <p:nvSpPr>
          <p:cNvPr id="13" name="Text 11"/>
          <p:cNvSpPr txBox="1"/>
          <p:nvPr/>
        </p:nvSpPr>
        <p:spPr>
          <a:xfrm>
            <a:off x="6300216" y="1463040"/>
            <a:ext cx="1453896" cy="91440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Gemini</a:t>
            </a:r>
            <a:endParaRPr lang="en-US" sz="1400" dirty="0"/>
          </a:p>
          <a:p>
            <a:pPr algn="ctr" indent="0" marL="0">
              <a:buNone/>
            </a:pPr>
            <a:r>
              <a:rPr lang="en-US" sz="1200" dirty="0">
                <a:solidFill>
                  <a:schemeClr val="bg1"/>
                </a:solidFill>
                <a:latin typeface="Calibri" pitchFamily="34" charset="0"/>
                <a:ea typeface="Calibri" pitchFamily="34" charset="-122"/>
                <a:cs typeface="Calibri" pitchFamily="34" charset="-120"/>
              </a:rPr>
              <a:t>residual only</a:t>
            </a:r>
            <a:endParaRPr lang="en-US" sz="1400" dirty="0"/>
          </a:p>
        </p:txBody>
      </p:sp>
      <p:sp>
        <p:nvSpPr>
          <p:cNvPr id="14" name="flow-arrow-4"/>
          <p:cNvSpPr/>
          <p:nvPr/>
        </p:nvSpPr>
        <p:spPr>
          <a:xfrm>
            <a:off x="7854696" y="1920240"/>
            <a:ext cx="237744" cy="0"/>
          </a:xfrm>
          <a:prstGeom prst="line">
            <a:avLst/>
          </a:prstGeom>
          <a:noFill/>
          <a:ln w="15875">
            <a:solidFill>
              <a:schemeClr val="tx1"/>
            </a:solidFill>
            <a:prstDash val="solid"/>
            <a:tailEnd type="triangle"/>
          </a:ln>
        </p:spPr>
      </p:sp>
      <p:sp>
        <p:nvSpPr>
          <p:cNvPr id="15" name="flow-box-5"/>
          <p:cNvSpPr/>
          <p:nvPr/>
        </p:nvSpPr>
        <p:spPr>
          <a:xfrm>
            <a:off x="8119872" y="1463040"/>
            <a:ext cx="1600200" cy="914400"/>
          </a:xfrm>
          <a:prstGeom prst="rect">
            <a:avLst/>
          </a:prstGeom>
          <a:solidFill>
            <a:schemeClr val="bg1"/>
          </a:solidFill>
          <a:ln w="12700">
            <a:solidFill>
              <a:schemeClr val="tx1"/>
            </a:solidFill>
            <a:prstDash val="solid"/>
          </a:ln>
        </p:spPr>
      </p:sp>
      <p:sp>
        <p:nvSpPr>
          <p:cNvPr id="16" name="Text 14"/>
          <p:cNvSpPr txBox="1"/>
          <p:nvPr/>
        </p:nvSpPr>
        <p:spPr>
          <a:xfrm>
            <a:off x="8193024" y="1463040"/>
            <a:ext cx="1453896" cy="91440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Rules, pass 2</a:t>
            </a:r>
            <a:endParaRPr lang="en-US" sz="1400" dirty="0"/>
          </a:p>
          <a:p>
            <a:pPr algn="ctr" indent="0" marL="0">
              <a:buNone/>
            </a:pPr>
            <a:r>
              <a:rPr lang="en-US" sz="1200" dirty="0">
                <a:solidFill>
                  <a:schemeClr val="tx1"/>
                </a:solidFill>
                <a:latin typeface="Calibri" pitchFamily="34" charset="0"/>
                <a:ea typeface="Calibri" pitchFamily="34" charset="-122"/>
                <a:cs typeface="Calibri" pitchFamily="34" charset="-120"/>
              </a:rPr>
              <a:t>with mapped terms</a:t>
            </a:r>
            <a:endParaRPr lang="en-US" sz="1400" dirty="0"/>
          </a:p>
        </p:txBody>
      </p:sp>
      <p:sp>
        <p:nvSpPr>
          <p:cNvPr id="17" name="flow-arrow-5"/>
          <p:cNvSpPr/>
          <p:nvPr/>
        </p:nvSpPr>
        <p:spPr>
          <a:xfrm>
            <a:off x="9747504" y="1920240"/>
            <a:ext cx="237744" cy="0"/>
          </a:xfrm>
          <a:prstGeom prst="line">
            <a:avLst/>
          </a:prstGeom>
          <a:noFill/>
          <a:ln w="15875">
            <a:solidFill>
              <a:schemeClr val="tx1"/>
            </a:solidFill>
            <a:prstDash val="solid"/>
            <a:tailEnd type="triangle"/>
          </a:ln>
        </p:spPr>
      </p:sp>
      <p:sp>
        <p:nvSpPr>
          <p:cNvPr id="18" name="flow-box-6"/>
          <p:cNvSpPr/>
          <p:nvPr/>
        </p:nvSpPr>
        <p:spPr>
          <a:xfrm>
            <a:off x="10012680" y="1463040"/>
            <a:ext cx="1600200" cy="914400"/>
          </a:xfrm>
          <a:prstGeom prst="rect">
            <a:avLst/>
          </a:prstGeom>
          <a:solidFill>
            <a:schemeClr val="bg1"/>
          </a:solidFill>
          <a:ln w="12700">
            <a:solidFill>
              <a:schemeClr val="tx1"/>
            </a:solidFill>
            <a:prstDash val="solid"/>
          </a:ln>
        </p:spPr>
      </p:sp>
      <p:sp>
        <p:nvSpPr>
          <p:cNvPr id="19" name="Text 17"/>
          <p:cNvSpPr txBox="1"/>
          <p:nvPr/>
        </p:nvSpPr>
        <p:spPr>
          <a:xfrm>
            <a:off x="10085832" y="1463040"/>
            <a:ext cx="1453896" cy="91440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Human review</a:t>
            </a:r>
            <a:endParaRPr lang="en-US" sz="1400" dirty="0"/>
          </a:p>
          <a:p>
            <a:pPr algn="ctr" indent="0" marL="0">
              <a:buNone/>
            </a:pPr>
            <a:r>
              <a:rPr lang="en-US" sz="1200" dirty="0">
                <a:solidFill>
                  <a:schemeClr val="tx1"/>
                </a:solidFill>
                <a:latin typeface="Calibri" pitchFamily="34" charset="0"/>
                <a:ea typeface="Calibri" pitchFamily="34" charset="-122"/>
                <a:cs typeface="Calibri" pitchFamily="34" charset="-120"/>
              </a:rPr>
              <a:t>accept, reject, unsure</a:t>
            </a:r>
            <a:endParaRPr lang="en-US" sz="1400" dirty="0"/>
          </a:p>
        </p:txBody>
      </p:sp>
      <p:sp>
        <p:nvSpPr>
          <p:cNvPr id="20" name="Text 18"/>
          <p:cNvSpPr txBox="1"/>
          <p:nvPr/>
        </p:nvSpPr>
        <p:spPr>
          <a:xfrm>
            <a:off x="4206240" y="2514600"/>
            <a:ext cx="1828800" cy="548640"/>
          </a:xfrm>
          <a:prstGeom prst="rect">
            <a:avLst/>
          </a:prstGeom>
          <a:noFill/>
          <a:ln/>
        </p:spPr>
        <p:txBody>
          <a:bodyPr wrap="square" lIns="0" tIns="0" rIns="0" bIns="0" rtlCol="0" anchor="t"/>
          <a:lstStyle/>
          <a:p>
            <a:pPr algn="ctr" indent="0" marL="0">
              <a:buNone/>
            </a:pPr>
            <a:r>
              <a:rPr lang="en-US" sz="1200" dirty="0">
                <a:solidFill>
                  <a:schemeClr val="accent2"/>
                </a:solidFill>
                <a:latin typeface="Calibri" pitchFamily="34" charset="0"/>
                <a:ea typeface="Calibri" pitchFamily="34" charset="-122"/>
                <a:cs typeface="Calibri" pitchFamily="34" charset="-120"/>
              </a:rPr>
              <a:t>1,003 of 1,369 flags come from rules alone</a:t>
            </a:r>
            <a:endParaRPr lang="en-US" sz="1200" dirty="0"/>
          </a:p>
        </p:txBody>
      </p:sp>
      <p:sp>
        <p:nvSpPr>
          <p:cNvPr id="21" name="Text 19"/>
          <p:cNvSpPr txBox="1"/>
          <p:nvPr/>
        </p:nvSpPr>
        <p:spPr>
          <a:xfrm>
            <a:off x="6309360" y="2514600"/>
            <a:ext cx="5303520" cy="548640"/>
          </a:xfrm>
          <a:prstGeom prst="rect">
            <a:avLst/>
          </a:prstGeom>
          <a:noFill/>
          <a:ln/>
        </p:spPr>
        <p:txBody>
          <a:bodyPr wrap="square" lIns="0" tIns="0" rIns="0" bIns="0" rtlCol="0" anchor="t"/>
          <a:lstStyle/>
          <a:p>
            <a:pPr indent="0" marL="0">
              <a:buNone/>
            </a:pPr>
            <a:r>
              <a:rPr lang="en-US" sz="1200" dirty="0">
                <a:solidFill>
                  <a:schemeClr val="accent2"/>
                </a:solidFill>
                <a:latin typeface="Calibri" pitchFamily="34" charset="0"/>
                <a:ea typeface="Calibri" pitchFamily="34" charset="-122"/>
                <a:cs typeface="Calibri" pitchFamily="34" charset="-120"/>
              </a:rPr>
              <a:t>Four narrow jobs: map unfamiliar terms, read negations in notes, judge borderline duplicates, write explanations</a:t>
            </a:r>
            <a:endParaRPr lang="en-US" sz="1200" dirty="0"/>
          </a:p>
        </p:txBody>
      </p:sp>
      <p:sp>
        <p:nvSpPr>
          <p:cNvPr id="22" name="Text 20"/>
          <p:cNvSpPr txBox="1"/>
          <p:nvPr/>
        </p:nvSpPr>
        <p:spPr>
          <a:xfrm>
            <a:off x="548640" y="3429000"/>
            <a:ext cx="521208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RAG: guideline and terminology retrieval</a:t>
            </a:r>
            <a:endParaRPr lang="en-US" sz="1600" dirty="0"/>
          </a:p>
        </p:txBody>
      </p:sp>
      <p:sp>
        <p:nvSpPr>
          <p:cNvPr id="23" name="Text 21"/>
          <p:cNvSpPr txBox="1"/>
          <p:nvPr/>
        </p:nvSpPr>
        <p:spPr>
          <a:xfrm>
            <a:off x="548640" y="3840480"/>
            <a:ext cx="521208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Knowledge base: 10 guideline documents (fictional) + 63 vocabulary concepts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Retriever: BM25 + character 3-grams, rank-fused; lexical only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Agent answers may cite only what was retrieved</a:t>
            </a:r>
            <a:endParaRPr lang="en-US" sz="1400" dirty="0"/>
          </a:p>
        </p:txBody>
      </p:sp>
      <p:sp>
        <p:nvSpPr>
          <p:cNvPr id="24" name="Text 22"/>
          <p:cNvSpPr txBox="1"/>
          <p:nvPr/>
        </p:nvSpPr>
        <p:spPr>
          <a:xfrm>
            <a:off x="6309360" y="3429000"/>
            <a:ext cx="530352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Review agent: 5 tools, 3 budgets</a:t>
            </a:r>
            <a:endParaRPr lang="en-US" sz="1600" dirty="0"/>
          </a:p>
        </p:txBody>
      </p:sp>
      <p:graphicFrame>
        <p:nvGraphicFramePr>
          <p:cNvPr id="3" name="tool-table"/>
          <p:cNvGraphicFramePr>
            <a:graphicFrameLocks noGrp="1"/>
          </p:cNvGraphicFramePr>
          <p:nvPr>
            <p:extLst>
              <p:ext uri="{D42A27DB-BD31-4B8C-83A1-F6EECF244321}">
                <p14:modId xmlns:p14="http://schemas.microsoft.com/office/powerpoint/2010/main" val="1579011935"/>
              </p:ext>
            </p:extLst>
          </p:nvPr>
        </p:nvGraphicFramePr>
        <p:xfrm>
          <a:off x="6309360" y="3840480"/>
          <a:ext cx="5303520" cy="914400"/>
        </p:xfrm>
        <a:graphic>
          <a:graphicData uri="http://schemas.openxmlformats.org/drawingml/2006/table">
            <a:tbl>
              <a:tblPr/>
              <a:tblGrid>
                <a:gridCol w="2194560"/>
                <a:gridCol w="3108960"/>
              </a:tblGrid>
              <a:tr h="365760">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Tool</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Privilege</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6576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search_guidelines</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36576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get_patient_records</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medium, case-scoped</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36576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run_rule_checks</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36576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lookup_term</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365760">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apply_correction</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indent="0" marL="0">
                        <a:buNone/>
                      </a:pPr>
                      <a:r>
                        <a:rPr lang="en-US" sz="1300" b="1" dirty="0">
                          <a:solidFill>
                            <a:srgbClr val="C8102E"/>
                          </a:solidFill>
                          <a:latin typeface="Calibri" pitchFamily="34" charset="0"/>
                          <a:ea typeface="Calibri" pitchFamily="34" charset="-122"/>
                          <a:cs typeface="Calibri" pitchFamily="34" charset="-120"/>
                        </a:rPr>
                        <a:t>HIGH: 3 fields, human approval</a:t>
                      </a:r>
                      <a:endParaRPr lang="en-US" sz="13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914400"/>
          </a:xfrm>
          <a:prstGeom prst="rect">
            <a:avLst/>
          </a:prstGeom>
          <a:noFill/>
          <a:ln/>
        </p:spPr>
        <p:txBody>
          <a:bodyPr wrap="square" lIns="0" tIns="0" rIns="0" bIns="0" rtlCol="0" anchor="t"/>
          <a:lstStyle/>
          <a:p>
            <a:pPr algn="l" indent="0" marL="0">
              <a:buNone/>
            </a:pPr>
            <a:r>
              <a:rPr lang="en-US" sz="3000" b="1" dirty="0">
                <a:solidFill>
                  <a:schemeClr val="tx1"/>
                </a:solidFill>
              </a:rPr>
              <a:t>Hybrid reaches F1 0.992 for $4.41; LLM-only reaches 0.890 for $10.56</a:t>
            </a:r>
            <a:endParaRPr lang="en-US" sz="3000" dirty="0"/>
          </a:p>
        </p:txBody>
      </p:sp>
      <p:graphicFrame>
        <p:nvGraphicFramePr>
          <p:cNvPr id="4" name="results-table"/>
          <p:cNvGraphicFramePr>
            <a:graphicFrameLocks noGrp="1"/>
          </p:cNvGraphicFramePr>
          <p:nvPr>
            <p:extLst>
              <p:ext uri="{D42A27DB-BD31-4B8C-83A1-F6EECF244321}">
                <p14:modId xmlns:p14="http://schemas.microsoft.com/office/powerpoint/2010/main" val="1579011935"/>
              </p:ext>
            </p:extLst>
          </p:nvPr>
        </p:nvGraphicFramePr>
        <p:xfrm>
          <a:off x="548640" y="1508760"/>
          <a:ext cx="5394960" cy="914400"/>
        </p:xfrm>
        <a:graphic>
          <a:graphicData uri="http://schemas.openxmlformats.org/drawingml/2006/table">
            <a:tbl>
              <a:tblPr/>
              <a:tblGrid>
                <a:gridCol w="1371600"/>
                <a:gridCol w="1005840"/>
                <a:gridCol w="914400"/>
                <a:gridCol w="822960"/>
                <a:gridCol w="1280160"/>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System</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Precision</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Recall</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Rules</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0.893</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0.943</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LLM-only</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0.956</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0.832</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0.890</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c>
                  <a:txBody>
                    <a:bodyPr/>
                    <a:lstStyle/>
                    <a:p>
                      <a:pPr algn="r" indent="0" marL="0">
                        <a:buNone/>
                      </a:pPr>
                      <a:r>
                        <a:rPr lang="en-US" sz="1400" dirty="0">
                          <a:solidFill>
                            <a:srgbClr val="000000"/>
                          </a:solidFill>
                          <a:latin typeface="Calibri" pitchFamily="34" charset="0"/>
                          <a:ea typeface="Calibri" pitchFamily="34" charset="-122"/>
                          <a:cs typeface="Calibri" pitchFamily="34" charset="-120"/>
                        </a:rPr>
                        <a:t>$10.56</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6350"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0.984</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0.992</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rgbClr val="000000"/>
                          </a:solidFill>
                          <a:latin typeface="Calibri" pitchFamily="34" charset="0"/>
                          <a:ea typeface="Calibri" pitchFamily="34" charset="-122"/>
                          <a:cs typeface="Calibri" pitchFamily="34" charset="-120"/>
                        </a:rPr>
                        <a:t>$4.41</a:t>
                      </a:r>
                      <a:endParaRPr lang="en-US" sz="1400" dirty="0">
                        <a:latin typeface="Calibri" charset="0"/>
                        <a:ea typeface="Calibri" charset="0"/>
                        <a:cs typeface="Calibri" charset="0"/>
                      </a:endParaRPr>
                    </a:p>
                  </a:txBody>
                  <a:tcPr marL="0" marR="73152" marT="36576" marB="36576"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bl>
          </a:graphicData>
        </a:graphic>
      </p:graphicFrame>
      <p:sp>
        <p:nvSpPr>
          <p:cNvPr id="4" name="Text 1"/>
          <p:cNvSpPr txBox="1"/>
          <p:nvPr/>
        </p:nvSpPr>
        <p:spPr>
          <a:xfrm>
            <a:off x="548640" y="3520440"/>
            <a:ext cx="5394960"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Hybrid: 98 narrow calls, 337k output tokens. LLM-only: 42 calls, 839k.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LLM-only lost one 25-record chunk to truncated output; without it F1 is 0.902.</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dataset, one seed, one run per LLM system.</a:t>
            </a:r>
            <a:endParaRPr lang="en-US" sz="1400" dirty="0"/>
          </a:p>
        </p:txBody>
      </p:sp>
      <p:graphicFrame>
        <p:nvGraphicFramePr>
          <p:cNvPr id="5" name="recall-chart" descr=""/>
          <p:cNvGraphicFramePr/>
          <p:nvPr/>
        </p:nvGraphicFramePr>
        <p:xfrm>
          <a:off x="6309360" y="1417320"/>
          <a:ext cx="5303520" cy="342900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5212080"/>
            <a:ext cx="1828800" cy="91440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0.80</a:t>
            </a:r>
            <a:endParaRPr lang="en-US" sz="4400" dirty="0"/>
          </a:p>
        </p:txBody>
      </p:sp>
      <p:sp>
        <p:nvSpPr>
          <p:cNvPr id="7" name="Text 3"/>
          <p:cNvSpPr txBox="1"/>
          <p:nvPr/>
        </p:nvSpPr>
        <p:spPr>
          <a:xfrm>
            <a:off x="2468880" y="5212080"/>
            <a:ext cx="2011680" cy="91440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RAG recall@5 on the 71 terms rules could not resolve</a:t>
            </a:r>
            <a:endParaRPr lang="en-US" sz="1400" dirty="0"/>
          </a:p>
        </p:txBody>
      </p:sp>
      <p:sp>
        <p:nvSpPr>
          <p:cNvPr id="8" name="Text 4"/>
          <p:cNvSpPr txBox="1"/>
          <p:nvPr/>
        </p:nvSpPr>
        <p:spPr>
          <a:xfrm>
            <a:off x="4663440" y="5212080"/>
            <a:ext cx="1188720" cy="91440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6x</a:t>
            </a:r>
            <a:endParaRPr lang="en-US" sz="4400" dirty="0"/>
          </a:p>
        </p:txBody>
      </p:sp>
      <p:sp>
        <p:nvSpPr>
          <p:cNvPr id="9" name="Text 5"/>
          <p:cNvSpPr txBox="1"/>
          <p:nvPr/>
        </p:nvSpPr>
        <p:spPr>
          <a:xfrm>
            <a:off x="5943600" y="5212080"/>
            <a:ext cx="1828800" cy="91440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prompt size vs listing all 63 concepts</a:t>
            </a:r>
            <a:endParaRPr lang="en-US" sz="1400" dirty="0"/>
          </a:p>
        </p:txBody>
      </p:sp>
      <p:sp>
        <p:nvSpPr>
          <p:cNvPr id="10" name="Text 6"/>
          <p:cNvSpPr txBox="1"/>
          <p:nvPr/>
        </p:nvSpPr>
        <p:spPr>
          <a:xfrm>
            <a:off x="8046720" y="5212080"/>
            <a:ext cx="3566160" cy="9144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Negative result. </a:t>
            </a:r>
            <a:pPr indent="0" marL="0">
              <a:buNone/>
            </a:pPr>
            <a:r>
              <a:rPr lang="en-US" sz="1400" dirty="0">
                <a:solidFill>
                  <a:schemeClr val="tx1"/>
                </a:solidFill>
                <a:latin typeface="Calibri" pitchFamily="34" charset="0"/>
                <a:ea typeface="Calibri" pitchFamily="34" charset="-122"/>
                <a:cs typeface="Calibri" pitchFamily="34" charset="-120"/>
              </a:rPr>
              <a:t>At this vocabulary size the full menu is cheaper and more accurate. RAG pays off at UMLS scale, with embeddings.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914400"/>
          </a:xfrm>
          <a:prstGeom prst="rect">
            <a:avLst/>
          </a:prstGeom>
          <a:noFill/>
          <a:ln/>
        </p:spPr>
        <p:txBody>
          <a:bodyPr wrap="square" lIns="0" tIns="0" rIns="0" bIns="0" rtlCol="0" anchor="t"/>
          <a:lstStyle/>
          <a:p>
            <a:pPr algn="l" indent="0" marL="0">
              <a:buNone/>
            </a:pPr>
            <a:r>
              <a:rPr lang="en-US" sz="3000" b="1" dirty="0">
                <a:solidFill>
                  <a:schemeClr val="tx1"/>
                </a:solidFill>
              </a:rPr>
              <a:t>Limits enforced in code stopped most attacks; a verdict cross-check stopped the last</a:t>
            </a:r>
            <a:endParaRPr lang="en-US" sz="3000" dirty="0"/>
          </a:p>
        </p:txBody>
      </p:sp>
      <p:graphicFrame>
        <p:nvGraphicFramePr>
          <p:cNvPr id="3" name="blocked-chart" descr=""/>
          <p:cNvGraphicFramePr/>
          <p:nvPr/>
        </p:nvGraphicFramePr>
        <p:xfrm>
          <a:off x="548640" y="1417320"/>
          <a:ext cx="6309360" cy="3703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132320" y="1508760"/>
            <a:ext cx="2468880" cy="9144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9 to 0</a:t>
            </a:r>
            <a:endParaRPr lang="en-US" sz="2800" dirty="0"/>
          </a:p>
        </p:txBody>
      </p:sp>
      <p:sp>
        <p:nvSpPr>
          <p:cNvPr id="5" name="Text 2"/>
          <p:cNvSpPr txBox="1"/>
          <p:nvPr/>
        </p:nvSpPr>
        <p:spPr>
          <a:xfrm>
            <a:off x="9692640" y="1508760"/>
            <a:ext cx="1920240" cy="91440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privileged actions executed, no guards vs privilege limits</a:t>
            </a:r>
            <a:endParaRPr lang="en-US" sz="1400" dirty="0"/>
          </a:p>
        </p:txBody>
      </p:sp>
      <p:sp>
        <p:nvSpPr>
          <p:cNvPr id="6" name="Text 3"/>
          <p:cNvSpPr txBox="1"/>
          <p:nvPr/>
        </p:nvSpPr>
        <p:spPr>
          <a:xfrm>
            <a:off x="7132320" y="2697480"/>
            <a:ext cx="2468880" cy="914400"/>
          </a:xfrm>
          <a:prstGeom prst="rect">
            <a:avLst/>
          </a:prstGeom>
          <a:noFill/>
          <a:ln/>
        </p:spPr>
        <p:txBody>
          <a:bodyPr wrap="square" lIns="0" tIns="0" rIns="0" bIns="0" rtlCol="0" anchor="ctr"/>
          <a:lstStyle/>
          <a:p>
            <a:pPr indent="0" marL="0">
              <a:buNone/>
            </a:pPr>
            <a:r>
              <a:rPr lang="en-US" sz="2800" b="1" dirty="0">
                <a:solidFill>
                  <a:schemeClr val="accent4"/>
                </a:solidFill>
                <a:latin typeface="Cambria" pitchFamily="34" charset="0"/>
                <a:ea typeface="Cambria" pitchFamily="34" charset="-122"/>
                <a:cs typeface="Cambria" pitchFamily="34" charset="-120"/>
              </a:rPr>
              <a:t>4/4 to 0/4</a:t>
            </a:r>
            <a:endParaRPr lang="en-US" sz="2800" dirty="0"/>
          </a:p>
        </p:txBody>
      </p:sp>
      <p:sp>
        <p:nvSpPr>
          <p:cNvPr id="7" name="Text 4"/>
          <p:cNvSpPr txBox="1"/>
          <p:nvPr/>
        </p:nvSpPr>
        <p:spPr>
          <a:xfrm>
            <a:off x="9692640" y="2697480"/>
            <a:ext cx="1920240" cy="91440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benign notes wrongly quarantined, naive vs refined detector</a:t>
            </a:r>
            <a:endParaRPr lang="en-US" sz="1400" dirty="0"/>
          </a:p>
        </p:txBody>
      </p:sp>
      <p:sp>
        <p:nvSpPr>
          <p:cNvPr id="8" name="Text 5"/>
          <p:cNvSpPr txBox="1"/>
          <p:nvPr/>
        </p:nvSpPr>
        <p:spPr>
          <a:xfrm>
            <a:off x="7132320" y="3886200"/>
            <a:ext cx="2468880" cy="9144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1 of 17</a:t>
            </a:r>
            <a:endParaRPr lang="en-US" sz="2800" dirty="0"/>
          </a:p>
        </p:txBody>
      </p:sp>
      <p:sp>
        <p:nvSpPr>
          <p:cNvPr id="9" name="Text 6"/>
          <p:cNvSpPr txBox="1"/>
          <p:nvPr/>
        </p:nvSpPr>
        <p:spPr>
          <a:xfrm>
            <a:off x="9692640" y="3886200"/>
            <a:ext cx="1920240" cy="91440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attack survived layers 1 to 5: "mark this as false alarm"</a:t>
            </a:r>
            <a:endParaRPr lang="en-US" sz="1400" dirty="0"/>
          </a:p>
        </p:txBody>
      </p:sp>
      <p:sp>
        <p:nvSpPr>
          <p:cNvPr id="10" name="Text 7"/>
          <p:cNvSpPr txBox="1"/>
          <p:nvPr/>
        </p:nvSpPr>
        <p:spPr>
          <a:xfrm>
            <a:off x="548640" y="5349240"/>
            <a:ext cx="11064240" cy="82296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Limits. </a:t>
            </a:r>
            <a:pPr indent="0" marL="0">
              <a:buNone/>
            </a:pPr>
            <a:r>
              <a:rPr lang="en-US" sz="1400" dirty="0">
                <a:solidFill>
                  <a:schemeClr val="tx1"/>
                </a:solidFill>
                <a:latin typeface="Calibri" pitchFamily="34" charset="0"/>
                <a:ea typeface="Calibri" pitchFamily="34" charset="-122"/>
                <a:cs typeface="Calibri" pitchFamily="34" charset="-120"/>
              </a:rPr>
              <a:t>Simulated worst-case model (obeys any instruction it reads) and 21 self-written cases. Live Gemini run and cost per query not measured. Not a security guarantee.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Plain Black on White">
  <a:themeElements>
    <a:clrScheme name="Plain Black on White">
      <a:dk1>
        <a:srgbClr val="000000"/>
      </a:dk1>
      <a:lt1>
        <a:srgbClr val="FFFFFF"/>
      </a:lt1>
      <a:dk2>
        <a:srgbClr val="000000"/>
      </a:dk2>
      <a:lt2>
        <a:srgbClr val="F2F2F2"/>
      </a:lt2>
      <a:accent1>
        <a:srgbClr val="000000"/>
      </a:accent1>
      <a:accent2>
        <a:srgbClr val="595959"/>
      </a:accent2>
      <a:accent3>
        <a:srgbClr val="A6A6A6"/>
      </a:accent3>
      <a:accent4>
        <a:srgbClr val="C8102E"/>
      </a:accent4>
      <a:accent5>
        <a:srgbClr val="7F7F7F"/>
      </a:accent5>
      <a:accent6>
        <a:srgbClr val="D9D9D9"/>
      </a:accent6>
      <a:hlink>
        <a:srgbClr val="000000"/>
      </a:hlink>
      <a:folHlink>
        <a:srgbClr val="595959"/>
      </a:folHlink>
    </a:clrScheme>
    <a:fontScheme name="Plain Black on Whi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Data-Quality Firewall</dc:title>
  <dc:subject>PptxGenJS Presentation</dc:subject>
  <dc:creator>PptxGenJS</dc:creator>
  <cp:lastModifiedBy>PptxGenJS</cp:lastModifiedBy>
  <cp:revision>1</cp:revision>
  <dcterms:created xsi:type="dcterms:W3CDTF">2026-10-05T08:34:43Z</dcterms:created>
  <dcterms:modified xsi:type="dcterms:W3CDTF">2026-10-05T08:34:43Z</dcterms:modified>
</cp:coreProperties>
</file>