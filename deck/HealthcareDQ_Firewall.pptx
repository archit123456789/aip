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and approach" id="{53fc96db-b8c1-4ec4-a242-1a07e05e609a}">
          <p14:sldIdLst>
            <p14:sldId id="256"/>
          </p14:sldIdLst>
        </p14:section>
        <p14:section name="Architecture" id="{9e162fb9-8986-2fd9-f1bc-3ec4a706152b}">
          <p14:sldIdLst>
            <p14:sldId id="257"/>
          </p14:sldIdLst>
        </p14:section>
        <p14:section name="Results" id="{a29d98a8-da1b-8b12-768e-12b60d78d5cb}">
          <p14:sldIdLst>
            <p14:sldId id="258"/>
          </p14:sldIdLst>
        </p14:section>
        <p14:section name="Safety" id="{142a34c4-ebcb-91e9-0575-c128512a938b}">
          <p14:sldIdLst>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30"/>
                </a:solidFill>
                <a:latin typeface="+mn-lt"/>
              </a:defRPr>
            </a:pPr>
            <a:r>
              <a:rPr sz="1400" b="0" i="0" u="none" strike="noStrike">
                <a:solidFill>
                  <a:srgbClr val="1F2A30"/>
                </a:solidFill>
                <a:latin typeface="+mn-lt"/>
              </a:rPr>
              <a:t>F1 by issue type (full dataset, 1,416 issues)</a:t>
            </a:r>
          </a:p>
        </c:rich>
      </c:tx>
      <c:layout/>
      <c:overlay val="0"/>
    </c:title>
    <c:autoTitleDeleted val="0"/>
    <c:plotArea>
      <c:layout/>
      <c:barChart>
        <c:barDir val="col"/>
        <c:grouping val="clustered"/>
        <c:varyColors val="0"/>
        <c:ser>
          <c:idx val="0"/>
          <c:order val="0"/>
          <c:tx>
            <c:strRef>
              <c:f>Sheet1!$B$1</c:f>
              <c:strCache>
                <c:ptCount val="1"/>
                <c:pt idx="0">
                  <c:v>Rules</c:v>
                </c:pt>
              </c:strCache>
            </c:strRef>
          </c:tx>
          <c:spPr>
            <a:solidFill>
              <a:srgbClr val="5B7C99"/>
            </a:solidFill>
            <a:effectLst/>
          </c:spPr>
          <c:invertIfNegative val="0"/>
          <c:dLbls>
            <c:numFmt formatCode="0.00" sourceLinked="0"/>
            <c:txPr>
              <a:bodyPr/>
              <a:lstStyle/>
              <a:p>
                <a:pPr>
                  <a:defRPr b="0" i="0" strike="noStrike" sz="1000" u="none">
                    <a:solidFill>
                      <a:srgbClr val="1F2A30"/>
                    </a:solidFill>
                    <a:latin typeface="+mn-lt"/>
                  </a:defRPr>
                </a:pPr>
              </a:p>
            </c:txPr>
            <c:showLegendKey val="0"/>
            <c:showVal val="1"/>
            <c:showCatName val="0"/>
            <c:showSerName val="0"/>
            <c:showPercent val="0"/>
            <c:showBubbleSize val="0"/>
            <c:showLeaderLines val="0"/>
          </c:dLbls>
          <c:cat>
            <c:multiLvlStrRef>
              <c:f>Sheet1!$A$2:$A$6</c:f>
              <c:multiLvlStrCache>
                <c:ptCount val="5"/>
                <c:lvl>
                  <c:pt idx="0">
                    <c:v>Duplicate</c:v>
                  </c:pt>
                  <c:pt idx="1">
                    <c:v>Contradiction</c:v>
                  </c:pt>
                  <c:pt idx="2">
                    <c:v>Missing</c:v>
                  </c:pt>
                  <c:pt idx="3">
                    <c:v>Temporal</c:v>
                  </c:pt>
                  <c:pt idx="4">
                    <c:v>Terminology</c:v>
                  </c:pt>
                </c:lvl>
              </c:multiLvlStrCache>
            </c:multiLvlStrRef>
          </c:cat>
          <c:val>
            <c:numRef>
              <c:f>Sheet1!$B$2:$B$6</c:f>
              <c:numCache>
                <c:formatCode>General</c:formatCode>
                <c:ptCount val="5"/>
                <c:pt idx="0">
                  <c:v>0.936</c:v>
                </c:pt>
                <c:pt idx="1">
                  <c:v>0.857</c:v>
                </c:pt>
                <c:pt idx="2">
                  <c:v>1</c:v>
                </c:pt>
                <c:pt idx="3">
                  <c:v>0.993</c:v>
                </c:pt>
                <c:pt idx="4">
                  <c:v>0.948</c:v>
                </c:pt>
              </c:numCache>
            </c:numRef>
          </c:val>
        </c:ser>
        <c:ser>
          <c:idx val="1"/>
          <c:order val="1"/>
          <c:tx>
            <c:strRef>
              <c:f>Sheet1!$C$1</c:f>
              <c:strCache>
                <c:ptCount val="1"/>
                <c:pt idx="0">
                  <c:v>LLM-only</c:v>
                </c:pt>
              </c:strCache>
            </c:strRef>
          </c:tx>
          <c:spPr>
            <a:solidFill>
              <a:srgbClr val="E8A93B"/>
            </a:solidFill>
            <a:effectLst/>
          </c:spPr>
          <c:invertIfNegative val="0"/>
          <c:dLbls>
            <c:numFmt formatCode="0.00" sourceLinked="0"/>
            <c:txPr>
              <a:bodyPr/>
              <a:lstStyle/>
              <a:p>
                <a:pPr>
                  <a:defRPr b="0" i="0" strike="noStrike" sz="1000" u="none">
                    <a:solidFill>
                      <a:srgbClr val="1F2A30"/>
                    </a:solidFill>
                    <a:latin typeface="+mn-lt"/>
                  </a:defRPr>
                </a:pPr>
              </a:p>
            </c:txPr>
            <c:showLegendKey val="0"/>
            <c:showVal val="1"/>
            <c:showCatName val="0"/>
            <c:showSerName val="0"/>
            <c:showPercent val="0"/>
            <c:showBubbleSize val="0"/>
            <c:showLeaderLines val="0"/>
          </c:dLbls>
          <c:cat>
            <c:multiLvlStrRef>
              <c:f>Sheet1!$A$2:$A$6</c:f>
              <c:multiLvlStrCache>
                <c:ptCount val="5"/>
                <c:lvl>
                  <c:pt idx="0">
                    <c:v>Duplicate</c:v>
                  </c:pt>
                  <c:pt idx="1">
                    <c:v>Contradiction</c:v>
                  </c:pt>
                  <c:pt idx="2">
                    <c:v>Missing</c:v>
                  </c:pt>
                  <c:pt idx="3">
                    <c:v>Temporal</c:v>
                  </c:pt>
                  <c:pt idx="4">
                    <c:v>Terminology</c:v>
                  </c:pt>
                </c:lvl>
              </c:multiLvlStrCache>
            </c:multiLvlStrRef>
          </c:cat>
          <c:val>
            <c:numRef>
              <c:f>Sheet1!$C$2:$C$6</c:f>
              <c:numCache>
                <c:formatCode>General</c:formatCode>
                <c:ptCount val="5"/>
                <c:pt idx="0">
                  <c:v>0.851</c:v>
                </c:pt>
                <c:pt idx="1">
                  <c:v>0.814</c:v>
                </c:pt>
                <c:pt idx="2">
                  <c:v>0.985</c:v>
                </c:pt>
                <c:pt idx="3">
                  <c:v>0.898</c:v>
                </c:pt>
                <c:pt idx="4">
                  <c:v>0.897</c:v>
                </c:pt>
              </c:numCache>
            </c:numRef>
          </c:val>
        </c:ser>
        <c:ser>
          <c:idx val="2"/>
          <c:order val="2"/>
          <c:tx>
            <c:strRef>
              <c:f>Sheet1!$D$1</c:f>
              <c:strCache>
                <c:ptCount val="1"/>
                <c:pt idx="0">
                  <c:v>Hybrid</c:v>
                </c:pt>
              </c:strCache>
            </c:strRef>
          </c:tx>
          <c:spPr>
            <a:solidFill>
              <a:srgbClr val="1C9C8C"/>
            </a:solidFill>
            <a:effectLst/>
          </c:spPr>
          <c:invertIfNegative val="0"/>
          <c:dLbls>
            <c:numFmt formatCode="0.00" sourceLinked="0"/>
            <c:txPr>
              <a:bodyPr/>
              <a:lstStyle/>
              <a:p>
                <a:pPr>
                  <a:defRPr b="0" i="0" strike="noStrike" sz="1000" u="none">
                    <a:solidFill>
                      <a:srgbClr val="1F2A30"/>
                    </a:solidFill>
                    <a:latin typeface="+mn-lt"/>
                  </a:defRPr>
                </a:pPr>
              </a:p>
            </c:txPr>
            <c:showLegendKey val="0"/>
            <c:showVal val="1"/>
            <c:showCatName val="0"/>
            <c:showSerName val="0"/>
            <c:showPercent val="0"/>
            <c:showBubbleSize val="0"/>
            <c:showLeaderLines val="0"/>
          </c:dLbls>
          <c:cat>
            <c:multiLvlStrRef>
              <c:f>Sheet1!$A$2:$A$6</c:f>
              <c:multiLvlStrCache>
                <c:ptCount val="5"/>
                <c:lvl>
                  <c:pt idx="0">
                    <c:v>Duplicate</c:v>
                  </c:pt>
                  <c:pt idx="1">
                    <c:v>Contradiction</c:v>
                  </c:pt>
                  <c:pt idx="2">
                    <c:v>Missing</c:v>
                  </c:pt>
                  <c:pt idx="3">
                    <c:v>Temporal</c:v>
                  </c:pt>
                  <c:pt idx="4">
                    <c:v>Terminology</c:v>
                  </c:pt>
                </c:lvl>
              </c:multiLvlStrCache>
            </c:multiLvlStrRef>
          </c:cat>
          <c:val>
            <c:numRef>
              <c:f>Sheet1!$D$2:$D$6</c:f>
              <c:numCache>
                <c:formatCode>General</c:formatCode>
                <c:ptCount val="5"/>
                <c:pt idx="0">
                  <c:v>0.982</c:v>
                </c:pt>
                <c:pt idx="1">
                  <c:v>1</c:v>
                </c:pt>
                <c:pt idx="2">
                  <c:v>1</c:v>
                </c:pt>
                <c:pt idx="3">
                  <c:v>0.993</c:v>
                </c:pt>
                <c:pt idx="4">
                  <c:v>0.991</c:v>
                </c:pt>
              </c:numCache>
            </c:numRef>
          </c:val>
        </c:ser>
        <c:dLbls>
          <c:numFmt formatCode="0.00" sourceLinked="0"/>
          <c:txPr>
            <a:bodyPr/>
            <a:lstStyle/>
            <a:p>
              <a:pPr>
                <a:defRPr b="0" i="0" strike="noStrike" sz="1000" u="none">
                  <a:solidFill>
                    <a:srgbClr val="1F2A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A30"/>
                </a:solidFill>
                <a:latin typeface="+mn-lt"/>
              </a:defRPr>
            </a:pPr>
            <a:endParaRPr lang="en-US"/>
          </a:p>
        </c:txPr>
        <c:crossAx val="2094734552"/>
        <c:crosses val="autoZero"/>
        <c:auto val="1"/>
        <c:lblAlgn val="ctr"/>
        <c:noMultiLvlLbl val="1"/>
      </c:catAx>
      <c:valAx>
        <c:axId val="2094734552"/>
        <c:scaling>
          <c:orientation val="minMax"/>
          <c:max val="1.05"/>
          <c:min val="0.6"/>
        </c:scaling>
        <c:delete val="0"/>
        <c:axPos val="l"/>
        <c:majorGridlines>
          <c:spPr>
            <a:ln w="6350" cap="flat">
              <a:solidFill>
                <a:srgbClr val="D9E4E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1F2A30"/>
                </a:solidFill>
                <a:latin typeface="+mn-lt"/>
              </a:defRPr>
            </a:pPr>
            <a:endParaRPr lang="en-US"/>
          </a:p>
        </c:txPr>
        <c:crossAx val="2094734554"/>
        <c:crosses val="autoZero"/>
        <c:crossBetween val="between"/>
        <c:majorUnit val="0.1"/>
      </c:valAx>
      <c:spPr>
        <a:noFill/>
        <a:ln>
          <a:noFill/>
        </a:ln>
        <a:effectLst/>
      </c:spPr>
    </c:plotArea>
    <c:legend>
      <c:legendPos val="b"/>
      <c:overlay val="0"/>
      <c:txPr>
        <a:bodyPr/>
        <a:lstStyle/>
        <a:p>
          <a:pPr>
            <a:defRPr sz="1200">
              <a:solidFill>
                <a:srgbClr val="1F2A3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30"/>
                </a:solidFill>
                <a:latin typeface="+mn-lt"/>
              </a:defRPr>
            </a:pPr>
            <a:r>
              <a:rPr sz="1400" b="0" i="0" u="none" strike="noStrike">
                <a:solidFill>
                  <a:srgbClr val="1F2A30"/>
                </a:solidFill>
                <a:latin typeface="+mn-lt"/>
              </a:rPr>
              <a:t>Attacks blocked, layers added cumulatively (17 attacks, worst-case model)</a:t>
            </a:r>
          </a:p>
        </c:rich>
      </c:tx>
      <c:layout/>
      <c:overlay val="0"/>
    </c:title>
    <c:autoTitleDeleted val="0"/>
    <c:plotArea>
      <c:layout/>
      <c:barChart>
        <c:barDir val="col"/>
        <c:grouping val="clustered"/>
        <c:varyColors val="0"/>
        <c:ser>
          <c:idx val="0"/>
          <c:order val="0"/>
          <c:tx>
            <c:strRef>
              <c:f>Sheet1!$B$1</c:f>
              <c:strCache>
                <c:ptCount val="1"/>
                <c:pt idx="0">
                  <c:v>Attacks blocked</c:v>
                </c:pt>
              </c:strCache>
            </c:strRef>
          </c:tx>
          <c:spPr>
            <a:solidFill>
              <a:srgbClr val="1C9C8C"/>
            </a:solidFill>
            <a:effectLst/>
          </c:spPr>
          <c:invertIfNegative val="0"/>
          <c:dLbls>
            <c:numFmt formatCode="0.00" sourceLinked="0"/>
            <c:txPr>
              <a:bodyPr/>
              <a:lstStyle/>
              <a:p>
                <a:pPr>
                  <a:defRPr b="0" i="0" strike="noStrike" sz="1100" u="none">
                    <a:solidFill>
                      <a:srgbClr val="1F2A30"/>
                    </a:solidFill>
                    <a:latin typeface="+mn-lt"/>
                  </a:defRPr>
                </a:pPr>
              </a:p>
            </c:txPr>
            <c:showLegendKey val="0"/>
            <c:showVal val="1"/>
            <c:showCatName val="0"/>
            <c:showSerName val="0"/>
            <c:showPercent val="0"/>
            <c:showBubbleSize val="0"/>
            <c:showLeaderLines val="0"/>
          </c:dLbls>
          <c:cat>
            <c:multiLvlStrRef>
              <c:f>Sheet1!$A$2:$A$8</c:f>
              <c:multiLvlStrCache>
                <c:ptCount val="7"/>
                <c:lvl>
                  <c:pt idx="0">
                    <c:v>No guards</c:v>
                  </c:pt>
                  <c:pt idx="1">
                    <c:v>Heuristic v1</c:v>
                  </c:pt>
                  <c:pt idx="2">
                    <c:v>Heuristic v2</c:v>
                  </c:pt>
                  <c:pt idx="3">
                    <c:v>Structured output</c:v>
                  </c:pt>
                  <c:pt idx="4">
                    <c:v>Privilege capping</c:v>
                  </c:pt>
                  <c:pt idx="5">
                    <c:v>Output filter</c:v>
                  </c:pt>
                  <c:pt idx="6">
                    <c:v>Verdict cross-check</c:v>
                  </c:pt>
                </c:lvl>
              </c:multiLvlStrCache>
            </c:multiLvlStrRef>
          </c:cat>
          <c:val>
            <c:numRef>
              <c:f>Sheet1!$B$2:$B$8</c:f>
              <c:numCache>
                <c:formatCode>General</c:formatCode>
                <c:ptCount val="7"/>
                <c:pt idx="0">
                  <c:v>0</c:v>
                </c:pt>
                <c:pt idx="1">
                  <c:v>0.29</c:v>
                </c:pt>
                <c:pt idx="2">
                  <c:v>0.29</c:v>
                </c:pt>
                <c:pt idx="3">
                  <c:v>0.35</c:v>
                </c:pt>
                <c:pt idx="4">
                  <c:v>0.82</c:v>
                </c:pt>
                <c:pt idx="5">
                  <c:v>0.94</c:v>
                </c:pt>
                <c:pt idx="6">
                  <c:v>1</c:v>
                </c:pt>
              </c:numCache>
            </c:numRef>
          </c:val>
        </c:ser>
        <c:dLbls>
          <c:numFmt formatCode="0.00" sourceLinked="0"/>
          <c:txPr>
            <a:bodyPr/>
            <a:lstStyle/>
            <a:p>
              <a:pPr>
                <a:defRPr b="0" i="0" strike="noStrike" sz="1100" u="none">
                  <a:solidFill>
                    <a:srgbClr val="1F2A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A30"/>
                </a:solidFill>
                <a:latin typeface="+mn-lt"/>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6350" cap="flat">
              <a:solidFill>
                <a:srgbClr val="D9E4E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1F2A30"/>
                </a:solidFill>
                <a:latin typeface="+mn-lt"/>
              </a:defRPr>
            </a:pPr>
            <a:endParaRPr lang="en-US"/>
          </a:p>
        </c:txPr>
        <c:crossAx val="2094734554"/>
        <c:crosses val="autoZero"/>
        <c:crossBetween val="between"/>
        <c:majorUnit val="0.2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 Healthcare. Problem: patient data is split across systems with different IDs, name formats and wording, and errors flow into clinical AI. Five issue types: duplicates, contradictions, missing information, temporal errors, terminology differences. Data is synthetic with exact ground truth (1,416 planted issues; 1,070 are terminology). The sequence follows the course: baseline, hybrid LLM, RAG, then an agent with tools, guardrails and red-teaming (Lab 6 pattern). Flags only; humans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Flow: records are linked to patients, rules run first and emit issues with evidence, and only the residual goes to Gemini (term mapping, free-text note review, borderline duplicates, explanations). The knowledge base is the RAG layer: 10 fictional guideline documents and one entry per vocabulary concept, with a dependency-free BM25 plus character n-gram retriever. The agent follows the Lab 6 pattern: tool loop with three budgets, Pydantic argument schemas validated before execution, scope limited to the patient under review, human confirmation on the only privileged tool, structured output with citation grounding, and an output filter. The model proposes, a human disposes.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results on the full dataset with gemini-3.1-pro-preview. Hybrid: precision 1.00, recall 0.984, F1 0.992 at $4.41 and 98 calls. LLM-only: precision 0.956, recall 0.832, F1 0.890 at $10.56 and 42 calls; one chunk of 25 records was lost to output truncation (sensitivity: recall 0.853 without it). Rules: precision 1.00, recall 0.893. The rules' perfect precision is partly because they were written alongside the generator. RAG for term mapping: retrieval recall@1/3/5/10 = 0.56/0.68/0.80/0.89; with a perfect LLM the retrieval caps hybrid recall at 0.984 (k=5) versus 0.997 using the full menu, and the prompt is 6 to 11 times larger. Retrieval pays off only when the vocabulary is too big to list (UMLS scale) and then needs an embedding retriever. The RAG variant itself has not been run on live Gemini.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6 pattern: 21-case suite, 9 direct attacks, 8 indirect (poisoned clinical notes and a poisoned guideline document), and 4 benign controls. The simulated model obeys any instruction it reads, so the unguarded block rate is zero by construction; the chart shows what each structural layer buys when the model itself is compromised. Layer 1 (delimit and declare) only works by persuading a real model, so it cannot be measured offline. Best block per false positive: privilege capping (+47 points, 0 false positives). Heuristic v1 gained 29 points at the cost of 100% false positives on controls; v2 keeps the gain with none. After layer 5 one attack remains, verdict manipulation (I02): it needs no privileged tool, so its damage is bounded to an advisory verdict that a human reviews; the proposed layer 6 cross-checks the verdict against deterministic rule evidence. Survivability: the only privileged action is a stubbed correction limited to three fields, scoped to the case, and gated by human approval, so a successful injection can at worst change an advisory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_TITLE">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0B4F5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8229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822960"/>
          </a:xfrm>
          <a:prstGeom prst="rect">
            <a:avLst/>
          </a:prstGeom>
          <a:noFill/>
          <a:ln/>
        </p:spPr>
        <p:txBody>
          <a:bodyPr wrap="square" lIns="0" tIns="0" rIns="0" bIns="0" rtlCol="0" anchor="ctr"/>
          <a:lstStyle/>
          <a:p>
            <a:pPr algn="l" indent="0" marL="0">
              <a:buNone/>
            </a:pPr>
            <a:r>
              <a:rPr lang="en-US" sz="4000" b="1" dirty="0">
                <a:solidFill>
                  <a:schemeClr val="bg1"/>
                </a:solidFill>
              </a:rPr>
              <a:t>Healthcare Data-Quality Firewall</a:t>
            </a:r>
            <a:endParaRPr lang="en-US" sz="4000" dirty="0"/>
          </a:p>
        </p:txBody>
      </p:sp>
      <p:sp>
        <p:nvSpPr>
          <p:cNvPr id="3" name="Text 1"/>
          <p:cNvSpPr txBox="1"/>
          <p:nvPr/>
        </p:nvSpPr>
        <p:spPr>
          <a:xfrm>
            <a:off x="548640" y="1371600"/>
            <a:ext cx="11064240" cy="731520"/>
          </a:xfrm>
          <a:prstGeom prst="rect">
            <a:avLst/>
          </a:prstGeom>
          <a:noFill/>
          <a:ln/>
        </p:spPr>
        <p:txBody>
          <a:bodyPr wrap="square" lIns="0" tIns="0" rIns="0" bIns="0" rtlCol="0" anchor="t"/>
          <a:lstStyle/>
          <a:p>
            <a:pPr indent="0" marL="0">
              <a:buNone/>
            </a:pPr>
            <a:r>
              <a:rPr lang="en-US" sz="1800" dirty="0">
                <a:solidFill>
                  <a:schemeClr val="bg1"/>
                </a:solidFill>
                <a:latin typeface="Calibri" pitchFamily="34" charset="0"/>
                <a:ea typeface="Calibri" pitchFamily="34" charset="-122"/>
                <a:cs typeface="Calibri" pitchFamily="34" charset="-120"/>
              </a:rPr>
              <a:t>Fragmented clinical records are checked before they reach downstream AI. Issues are flagged for human review; nothing here makes a clinical decision.</a:t>
            </a:r>
            <a:endParaRPr lang="en-US" sz="1800" dirty="0"/>
          </a:p>
        </p:txBody>
      </p:sp>
      <p:sp>
        <p:nvSpPr>
          <p:cNvPr id="4" name="stage-card-1"/>
          <p:cNvSpPr/>
          <p:nvPr/>
        </p:nvSpPr>
        <p:spPr>
          <a:xfrm>
            <a:off x="548640" y="2423160"/>
            <a:ext cx="2148840" cy="2834640"/>
          </a:xfrm>
          <a:prstGeom prst="roundRect">
            <a:avLst>
              <a:gd name="adj" fmla="val 3404"/>
            </a:avLst>
          </a:prstGeom>
          <a:solidFill>
            <a:schemeClr val="bg1"/>
          </a:solidFill>
          <a:ln w="12700">
            <a:solidFill>
              <a:schemeClr val="bg1"/>
            </a:solidFill>
            <a:prstDash val="solid"/>
          </a:ln>
        </p:spPr>
      </p:sp>
      <p:sp>
        <p:nvSpPr>
          <p:cNvPr id="5" name="stage-num-1"/>
          <p:cNvSpPr/>
          <p:nvPr/>
        </p:nvSpPr>
        <p:spPr>
          <a:xfrm>
            <a:off x="731520" y="2606040"/>
            <a:ext cx="502920" cy="502920"/>
          </a:xfrm>
          <a:prstGeom prst="ellipse">
            <a:avLst/>
          </a:prstGeom>
          <a:solidFill>
            <a:schemeClr val="accent2"/>
          </a:solidFill>
          <a:ln w="12700">
            <a:solidFill>
              <a:schemeClr val="accent2"/>
            </a:solidFill>
            <a:prstDash val="solid"/>
          </a:ln>
        </p:spPr>
      </p:sp>
      <p:sp>
        <p:nvSpPr>
          <p:cNvPr id="6" name="Text 4"/>
          <p:cNvSpPr txBox="1"/>
          <p:nvPr/>
        </p:nvSpPr>
        <p:spPr>
          <a:xfrm>
            <a:off x="731520" y="260604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1</a:t>
            </a:r>
            <a:endParaRPr lang="en-US" sz="2000" dirty="0"/>
          </a:p>
        </p:txBody>
      </p:sp>
      <p:sp>
        <p:nvSpPr>
          <p:cNvPr id="7" name="Text 5"/>
          <p:cNvSpPr txBox="1"/>
          <p:nvPr/>
        </p:nvSpPr>
        <p:spPr>
          <a:xfrm>
            <a:off x="731520" y="3246120"/>
            <a:ext cx="1783080" cy="594360"/>
          </a:xfrm>
          <a:prstGeom prst="rect">
            <a:avLst/>
          </a:prstGeom>
          <a:noFill/>
          <a:ln/>
        </p:spPr>
        <p:txBody>
          <a:bodyPr wrap="square" lIns="0" tIns="0" rIns="0" bIns="0" rtlCol="0" anchor="t"/>
          <a:lstStyle/>
          <a:p>
            <a:pPr indent="0" marL="0">
              <a:buNone/>
            </a:pPr>
            <a:r>
              <a:rPr lang="en-US" sz="1800" b="1" dirty="0">
                <a:solidFill>
                  <a:schemeClr val="tx2"/>
                </a:solidFill>
                <a:latin typeface="Calibri" pitchFamily="34" charset="0"/>
                <a:ea typeface="Calibri" pitchFamily="34" charset="-122"/>
                <a:cs typeface="Calibri" pitchFamily="34" charset="-120"/>
              </a:rPr>
              <a:t>Labelled data</a:t>
            </a:r>
            <a:endParaRPr lang="en-US" sz="1800" dirty="0"/>
          </a:p>
        </p:txBody>
      </p:sp>
      <p:sp>
        <p:nvSpPr>
          <p:cNvPr id="8" name="Text 6"/>
          <p:cNvSpPr txBox="1"/>
          <p:nvPr/>
        </p:nvSpPr>
        <p:spPr>
          <a:xfrm>
            <a:off x="731520" y="3886200"/>
            <a:ext cx="1783080" cy="12801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300 synthetic patients, 1,033 fragmented records, 1,416 planted issues</a:t>
            </a:r>
            <a:endParaRPr lang="en-US" sz="1400" dirty="0"/>
          </a:p>
        </p:txBody>
      </p:sp>
      <p:sp>
        <p:nvSpPr>
          <p:cNvPr id="9" name="stage-card-2"/>
          <p:cNvSpPr/>
          <p:nvPr/>
        </p:nvSpPr>
        <p:spPr>
          <a:xfrm>
            <a:off x="2846070" y="2423160"/>
            <a:ext cx="2148840" cy="2834640"/>
          </a:xfrm>
          <a:prstGeom prst="roundRect">
            <a:avLst>
              <a:gd name="adj" fmla="val 3404"/>
            </a:avLst>
          </a:prstGeom>
          <a:solidFill>
            <a:schemeClr val="bg1"/>
          </a:solidFill>
          <a:ln w="12700">
            <a:solidFill>
              <a:schemeClr val="bg1"/>
            </a:solidFill>
            <a:prstDash val="solid"/>
          </a:ln>
        </p:spPr>
      </p:sp>
      <p:sp>
        <p:nvSpPr>
          <p:cNvPr id="10" name="stage-num-2"/>
          <p:cNvSpPr/>
          <p:nvPr/>
        </p:nvSpPr>
        <p:spPr>
          <a:xfrm>
            <a:off x="3028950" y="2606040"/>
            <a:ext cx="502920" cy="502920"/>
          </a:xfrm>
          <a:prstGeom prst="ellipse">
            <a:avLst/>
          </a:prstGeom>
          <a:solidFill>
            <a:schemeClr val="accent2"/>
          </a:solidFill>
          <a:ln w="12700">
            <a:solidFill>
              <a:schemeClr val="accent2"/>
            </a:solidFill>
            <a:prstDash val="solid"/>
          </a:ln>
        </p:spPr>
      </p:sp>
      <p:sp>
        <p:nvSpPr>
          <p:cNvPr id="11" name="Text 9"/>
          <p:cNvSpPr txBox="1"/>
          <p:nvPr/>
        </p:nvSpPr>
        <p:spPr>
          <a:xfrm>
            <a:off x="3028950" y="260604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2</a:t>
            </a:r>
            <a:endParaRPr lang="en-US" sz="2000" dirty="0"/>
          </a:p>
        </p:txBody>
      </p:sp>
      <p:sp>
        <p:nvSpPr>
          <p:cNvPr id="12" name="Text 10"/>
          <p:cNvSpPr txBox="1"/>
          <p:nvPr/>
        </p:nvSpPr>
        <p:spPr>
          <a:xfrm>
            <a:off x="3028950" y="3246120"/>
            <a:ext cx="1783080" cy="594360"/>
          </a:xfrm>
          <a:prstGeom prst="rect">
            <a:avLst/>
          </a:prstGeom>
          <a:noFill/>
          <a:ln/>
        </p:spPr>
        <p:txBody>
          <a:bodyPr wrap="square" lIns="0" tIns="0" rIns="0" bIns="0" rtlCol="0" anchor="t"/>
          <a:lstStyle/>
          <a:p>
            <a:pPr indent="0" marL="0">
              <a:buNone/>
            </a:pPr>
            <a:r>
              <a:rPr lang="en-US" sz="1800" b="1" dirty="0">
                <a:solidFill>
                  <a:schemeClr val="tx2"/>
                </a:solidFill>
                <a:latin typeface="Calibri" pitchFamily="34" charset="0"/>
                <a:ea typeface="Calibri" pitchFamily="34" charset="-122"/>
                <a:cs typeface="Calibri" pitchFamily="34" charset="-120"/>
              </a:rPr>
              <a:t>Rules</a:t>
            </a:r>
            <a:endParaRPr lang="en-US" sz="1800" dirty="0"/>
          </a:p>
        </p:txBody>
      </p:sp>
      <p:sp>
        <p:nvSpPr>
          <p:cNvPr id="13" name="Text 11"/>
          <p:cNvSpPr txBox="1"/>
          <p:nvPr/>
        </p:nvSpPr>
        <p:spPr>
          <a:xfrm>
            <a:off x="3028950" y="3886200"/>
            <a:ext cx="1783080" cy="12801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Patient linkage plus deterministic checks for all five issue types</a:t>
            </a:r>
            <a:endParaRPr lang="en-US" sz="1400" dirty="0"/>
          </a:p>
        </p:txBody>
      </p:sp>
      <p:sp>
        <p:nvSpPr>
          <p:cNvPr id="14" name="stage-card-3"/>
          <p:cNvSpPr/>
          <p:nvPr/>
        </p:nvSpPr>
        <p:spPr>
          <a:xfrm>
            <a:off x="5143500" y="2423160"/>
            <a:ext cx="2148840" cy="2834640"/>
          </a:xfrm>
          <a:prstGeom prst="roundRect">
            <a:avLst>
              <a:gd name="adj" fmla="val 3404"/>
            </a:avLst>
          </a:prstGeom>
          <a:solidFill>
            <a:schemeClr val="bg1"/>
          </a:solidFill>
          <a:ln w="12700">
            <a:solidFill>
              <a:schemeClr val="bg1"/>
            </a:solidFill>
            <a:prstDash val="solid"/>
          </a:ln>
        </p:spPr>
      </p:sp>
      <p:sp>
        <p:nvSpPr>
          <p:cNvPr id="15" name="stage-num-3"/>
          <p:cNvSpPr/>
          <p:nvPr/>
        </p:nvSpPr>
        <p:spPr>
          <a:xfrm>
            <a:off x="5326380" y="2606040"/>
            <a:ext cx="502920" cy="502920"/>
          </a:xfrm>
          <a:prstGeom prst="ellipse">
            <a:avLst/>
          </a:prstGeom>
          <a:solidFill>
            <a:schemeClr val="accent2"/>
          </a:solidFill>
          <a:ln w="12700">
            <a:solidFill>
              <a:schemeClr val="accent2"/>
            </a:solidFill>
            <a:prstDash val="solid"/>
          </a:ln>
        </p:spPr>
      </p:sp>
      <p:sp>
        <p:nvSpPr>
          <p:cNvPr id="16" name="Text 14"/>
          <p:cNvSpPr txBox="1"/>
          <p:nvPr/>
        </p:nvSpPr>
        <p:spPr>
          <a:xfrm>
            <a:off x="5326380" y="260604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3</a:t>
            </a:r>
            <a:endParaRPr lang="en-US" sz="2000" dirty="0"/>
          </a:p>
        </p:txBody>
      </p:sp>
      <p:sp>
        <p:nvSpPr>
          <p:cNvPr id="17" name="Text 15"/>
          <p:cNvSpPr txBox="1"/>
          <p:nvPr/>
        </p:nvSpPr>
        <p:spPr>
          <a:xfrm>
            <a:off x="5326380" y="3246120"/>
            <a:ext cx="1783080" cy="594360"/>
          </a:xfrm>
          <a:prstGeom prst="rect">
            <a:avLst/>
          </a:prstGeom>
          <a:noFill/>
          <a:ln/>
        </p:spPr>
        <p:txBody>
          <a:bodyPr wrap="square" lIns="0" tIns="0" rIns="0" bIns="0" rtlCol="0" anchor="t"/>
          <a:lstStyle/>
          <a:p>
            <a:pPr indent="0" marL="0">
              <a:buNone/>
            </a:pPr>
            <a:r>
              <a:rPr lang="en-US" sz="1800" b="1" dirty="0">
                <a:solidFill>
                  <a:schemeClr val="tx2"/>
                </a:solidFill>
                <a:latin typeface="Calibri" pitchFamily="34" charset="0"/>
                <a:ea typeface="Calibri" pitchFamily="34" charset="-122"/>
                <a:cs typeface="Calibri" pitchFamily="34" charset="-120"/>
              </a:rPr>
              <a:t>Hybrid LLM</a:t>
            </a:r>
            <a:endParaRPr lang="en-US" sz="1800" dirty="0"/>
          </a:p>
        </p:txBody>
      </p:sp>
      <p:sp>
        <p:nvSpPr>
          <p:cNvPr id="18" name="Text 16"/>
          <p:cNvSpPr txBox="1"/>
          <p:nvPr/>
        </p:nvSpPr>
        <p:spPr>
          <a:xfrm>
            <a:off x="5326380" y="3886200"/>
            <a:ext cx="1783080" cy="12801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Gemini only on the residual: unfamiliar terms, free-text notes, borderline duplicates</a:t>
            </a:r>
            <a:endParaRPr lang="en-US" sz="1400" dirty="0"/>
          </a:p>
        </p:txBody>
      </p:sp>
      <p:sp>
        <p:nvSpPr>
          <p:cNvPr id="19" name="stage-card-4"/>
          <p:cNvSpPr/>
          <p:nvPr/>
        </p:nvSpPr>
        <p:spPr>
          <a:xfrm>
            <a:off x="7440930" y="2423160"/>
            <a:ext cx="2148840" cy="2834640"/>
          </a:xfrm>
          <a:prstGeom prst="roundRect">
            <a:avLst>
              <a:gd name="adj" fmla="val 3404"/>
            </a:avLst>
          </a:prstGeom>
          <a:solidFill>
            <a:schemeClr val="bg1"/>
          </a:solidFill>
          <a:ln w="12700">
            <a:solidFill>
              <a:schemeClr val="bg1"/>
            </a:solidFill>
            <a:prstDash val="solid"/>
          </a:ln>
        </p:spPr>
      </p:sp>
      <p:sp>
        <p:nvSpPr>
          <p:cNvPr id="20" name="stage-num-4"/>
          <p:cNvSpPr/>
          <p:nvPr/>
        </p:nvSpPr>
        <p:spPr>
          <a:xfrm>
            <a:off x="7623810" y="2606040"/>
            <a:ext cx="502920" cy="502920"/>
          </a:xfrm>
          <a:prstGeom prst="ellipse">
            <a:avLst/>
          </a:prstGeom>
          <a:solidFill>
            <a:schemeClr val="accent2"/>
          </a:solidFill>
          <a:ln w="12700">
            <a:solidFill>
              <a:schemeClr val="accent2"/>
            </a:solidFill>
            <a:prstDash val="solid"/>
          </a:ln>
        </p:spPr>
      </p:sp>
      <p:sp>
        <p:nvSpPr>
          <p:cNvPr id="21" name="Text 19"/>
          <p:cNvSpPr txBox="1"/>
          <p:nvPr/>
        </p:nvSpPr>
        <p:spPr>
          <a:xfrm>
            <a:off x="7623810" y="260604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4</a:t>
            </a:r>
            <a:endParaRPr lang="en-US" sz="2000" dirty="0"/>
          </a:p>
        </p:txBody>
      </p:sp>
      <p:sp>
        <p:nvSpPr>
          <p:cNvPr id="22" name="Text 20"/>
          <p:cNvSpPr txBox="1"/>
          <p:nvPr/>
        </p:nvSpPr>
        <p:spPr>
          <a:xfrm>
            <a:off x="7623810" y="3246120"/>
            <a:ext cx="1783080" cy="594360"/>
          </a:xfrm>
          <a:prstGeom prst="rect">
            <a:avLst/>
          </a:prstGeom>
          <a:noFill/>
          <a:ln/>
        </p:spPr>
        <p:txBody>
          <a:bodyPr wrap="square" lIns="0" tIns="0" rIns="0" bIns="0" rtlCol="0" anchor="t"/>
          <a:lstStyle/>
          <a:p>
            <a:pPr indent="0" marL="0">
              <a:buNone/>
            </a:pPr>
            <a:r>
              <a:rPr lang="en-US" sz="1800" b="1" dirty="0">
                <a:solidFill>
                  <a:schemeClr val="tx2"/>
                </a:solidFill>
                <a:latin typeface="Calibri" pitchFamily="34" charset="0"/>
                <a:ea typeface="Calibri" pitchFamily="34" charset="-122"/>
                <a:cs typeface="Calibri" pitchFamily="34" charset="-120"/>
              </a:rPr>
              <a:t>RAG</a:t>
            </a:r>
            <a:endParaRPr lang="en-US" sz="1800" dirty="0"/>
          </a:p>
        </p:txBody>
      </p:sp>
      <p:sp>
        <p:nvSpPr>
          <p:cNvPr id="23" name="Text 21"/>
          <p:cNvSpPr txBox="1"/>
          <p:nvPr/>
        </p:nvSpPr>
        <p:spPr>
          <a:xfrm>
            <a:off x="7623810" y="3886200"/>
            <a:ext cx="1783080" cy="12801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Guideline and terminology knowledge base; answers must cite what was retrieved</a:t>
            </a:r>
            <a:endParaRPr lang="en-US" sz="1400" dirty="0"/>
          </a:p>
        </p:txBody>
      </p:sp>
      <p:sp>
        <p:nvSpPr>
          <p:cNvPr id="24" name="stage-card-5"/>
          <p:cNvSpPr/>
          <p:nvPr/>
        </p:nvSpPr>
        <p:spPr>
          <a:xfrm>
            <a:off x="9738360" y="2423160"/>
            <a:ext cx="2148840" cy="2834640"/>
          </a:xfrm>
          <a:prstGeom prst="roundRect">
            <a:avLst>
              <a:gd name="adj" fmla="val 3404"/>
            </a:avLst>
          </a:prstGeom>
          <a:solidFill>
            <a:schemeClr val="bg1"/>
          </a:solidFill>
          <a:ln w="12700">
            <a:solidFill>
              <a:schemeClr val="bg1"/>
            </a:solidFill>
            <a:prstDash val="solid"/>
          </a:ln>
        </p:spPr>
      </p:sp>
      <p:sp>
        <p:nvSpPr>
          <p:cNvPr id="25" name="stage-num-5"/>
          <p:cNvSpPr/>
          <p:nvPr/>
        </p:nvSpPr>
        <p:spPr>
          <a:xfrm>
            <a:off x="9921240" y="2606040"/>
            <a:ext cx="502920" cy="502920"/>
          </a:xfrm>
          <a:prstGeom prst="ellipse">
            <a:avLst/>
          </a:prstGeom>
          <a:solidFill>
            <a:schemeClr val="accent2"/>
          </a:solidFill>
          <a:ln w="12700">
            <a:solidFill>
              <a:schemeClr val="accent2"/>
            </a:solidFill>
            <a:prstDash val="solid"/>
          </a:ln>
        </p:spPr>
      </p:sp>
      <p:sp>
        <p:nvSpPr>
          <p:cNvPr id="26" name="Text 24"/>
          <p:cNvSpPr txBox="1"/>
          <p:nvPr/>
        </p:nvSpPr>
        <p:spPr>
          <a:xfrm>
            <a:off x="9921240" y="260604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5</a:t>
            </a:r>
            <a:endParaRPr lang="en-US" sz="2000" dirty="0"/>
          </a:p>
        </p:txBody>
      </p:sp>
      <p:sp>
        <p:nvSpPr>
          <p:cNvPr id="27" name="Text 25"/>
          <p:cNvSpPr txBox="1"/>
          <p:nvPr/>
        </p:nvSpPr>
        <p:spPr>
          <a:xfrm>
            <a:off x="9921240" y="3246120"/>
            <a:ext cx="1783080" cy="594360"/>
          </a:xfrm>
          <a:prstGeom prst="rect">
            <a:avLst/>
          </a:prstGeom>
          <a:noFill/>
          <a:ln/>
        </p:spPr>
        <p:txBody>
          <a:bodyPr wrap="square" lIns="0" tIns="0" rIns="0" bIns="0" rtlCol="0" anchor="t"/>
          <a:lstStyle/>
          <a:p>
            <a:pPr indent="0" marL="0">
              <a:buNone/>
            </a:pPr>
            <a:r>
              <a:rPr lang="en-US" sz="1800" b="1" dirty="0">
                <a:solidFill>
                  <a:schemeClr val="tx2"/>
                </a:solidFill>
                <a:latin typeface="Calibri" pitchFamily="34" charset="0"/>
                <a:ea typeface="Calibri" pitchFamily="34" charset="-122"/>
                <a:cs typeface="Calibri" pitchFamily="34" charset="-120"/>
              </a:rPr>
              <a:t>Guarded agent</a:t>
            </a:r>
            <a:endParaRPr lang="en-US" sz="1800" dirty="0"/>
          </a:p>
        </p:txBody>
      </p:sp>
      <p:sp>
        <p:nvSpPr>
          <p:cNvPr id="28" name="Text 26"/>
          <p:cNvSpPr txBox="1"/>
          <p:nvPr/>
        </p:nvSpPr>
        <p:spPr>
          <a:xfrm>
            <a:off x="9921240" y="3886200"/>
            <a:ext cx="1783080" cy="12801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Tool loop with budgets, human approval and a 21-case red-team suite</a:t>
            </a:r>
            <a:endParaRPr lang="en-US" sz="1400" dirty="0"/>
          </a:p>
        </p:txBody>
      </p:sp>
      <p:sp>
        <p:nvSpPr>
          <p:cNvPr id="29" name="Text 27"/>
          <p:cNvSpPr txBox="1"/>
          <p:nvPr/>
        </p:nvSpPr>
        <p:spPr>
          <a:xfrm>
            <a:off x="548640" y="5440680"/>
            <a:ext cx="2743200" cy="320040"/>
          </a:xfrm>
          <a:prstGeom prst="rect">
            <a:avLst/>
          </a:prstGeom>
          <a:noFill/>
          <a:ln/>
        </p:spPr>
        <p:txBody>
          <a:bodyPr wrap="square" lIns="0" tIns="0" rIns="0" bIns="0" rtlCol="0" anchor="ctr"/>
          <a:lstStyle/>
          <a:p>
            <a:pPr indent="0" marL="0">
              <a:buNone/>
            </a:pPr>
            <a:r>
              <a:rPr lang="en-US" sz="1400" b="1" dirty="0">
                <a:solidFill>
                  <a:schemeClr val="accent6"/>
                </a:solidFill>
                <a:latin typeface="Calibri" pitchFamily="34" charset="0"/>
                <a:ea typeface="Calibri" pitchFamily="34" charset="-122"/>
                <a:cs typeface="Calibri" pitchFamily="34" charset="-120"/>
              </a:rPr>
              <a:t>Five issue types</a:t>
            </a:r>
            <a:endParaRPr lang="en-US" sz="1400" dirty="0"/>
          </a:p>
        </p:txBody>
      </p:sp>
      <p:sp>
        <p:nvSpPr>
          <p:cNvPr id="30" name="issue-chip-1"/>
          <p:cNvSpPr/>
          <p:nvPr/>
        </p:nvSpPr>
        <p:spPr>
          <a:xfrm>
            <a:off x="548640" y="5806440"/>
            <a:ext cx="2148840" cy="457200"/>
          </a:xfrm>
          <a:prstGeom prst="roundRect">
            <a:avLst>
              <a:gd name="adj" fmla="val 50000"/>
            </a:avLst>
          </a:prstGeom>
          <a:solidFill>
            <a:schemeClr val="accent2"/>
          </a:solidFill>
          <a:ln w="12700">
            <a:solidFill>
              <a:schemeClr val="accent2"/>
            </a:solidFill>
            <a:prstDash val="solid"/>
          </a:ln>
        </p:spPr>
      </p:sp>
      <p:sp>
        <p:nvSpPr>
          <p:cNvPr id="31" name="Text 29"/>
          <p:cNvSpPr txBox="1"/>
          <p:nvPr/>
        </p:nvSpPr>
        <p:spPr>
          <a:xfrm>
            <a:off x="548640" y="5806440"/>
            <a:ext cx="2148840" cy="45720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Duplicates</a:t>
            </a:r>
            <a:endParaRPr lang="en-US" sz="1400" dirty="0"/>
          </a:p>
        </p:txBody>
      </p:sp>
      <p:sp>
        <p:nvSpPr>
          <p:cNvPr id="32" name="issue-chip-2"/>
          <p:cNvSpPr/>
          <p:nvPr/>
        </p:nvSpPr>
        <p:spPr>
          <a:xfrm>
            <a:off x="2834640" y="5806440"/>
            <a:ext cx="2148840" cy="457200"/>
          </a:xfrm>
          <a:prstGeom prst="roundRect">
            <a:avLst>
              <a:gd name="adj" fmla="val 50000"/>
            </a:avLst>
          </a:prstGeom>
          <a:solidFill>
            <a:schemeClr val="accent2"/>
          </a:solidFill>
          <a:ln w="12700">
            <a:solidFill>
              <a:schemeClr val="accent2"/>
            </a:solidFill>
            <a:prstDash val="solid"/>
          </a:ln>
        </p:spPr>
      </p:sp>
      <p:sp>
        <p:nvSpPr>
          <p:cNvPr id="33" name="Text 31"/>
          <p:cNvSpPr txBox="1"/>
          <p:nvPr/>
        </p:nvSpPr>
        <p:spPr>
          <a:xfrm>
            <a:off x="2834640" y="5806440"/>
            <a:ext cx="2148840" cy="45720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Contradictions</a:t>
            </a:r>
            <a:endParaRPr lang="en-US" sz="1400" dirty="0"/>
          </a:p>
        </p:txBody>
      </p:sp>
      <p:sp>
        <p:nvSpPr>
          <p:cNvPr id="34" name="issue-chip-3"/>
          <p:cNvSpPr/>
          <p:nvPr/>
        </p:nvSpPr>
        <p:spPr>
          <a:xfrm>
            <a:off x="5120640" y="5806440"/>
            <a:ext cx="2148840" cy="457200"/>
          </a:xfrm>
          <a:prstGeom prst="roundRect">
            <a:avLst>
              <a:gd name="adj" fmla="val 50000"/>
            </a:avLst>
          </a:prstGeom>
          <a:solidFill>
            <a:schemeClr val="accent2"/>
          </a:solidFill>
          <a:ln w="12700">
            <a:solidFill>
              <a:schemeClr val="accent2"/>
            </a:solidFill>
            <a:prstDash val="solid"/>
          </a:ln>
        </p:spPr>
      </p:sp>
      <p:sp>
        <p:nvSpPr>
          <p:cNvPr id="35" name="Text 33"/>
          <p:cNvSpPr txBox="1"/>
          <p:nvPr/>
        </p:nvSpPr>
        <p:spPr>
          <a:xfrm>
            <a:off x="5120640" y="5806440"/>
            <a:ext cx="2148840" cy="45720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Missing information</a:t>
            </a:r>
            <a:endParaRPr lang="en-US" sz="1400" dirty="0"/>
          </a:p>
        </p:txBody>
      </p:sp>
      <p:sp>
        <p:nvSpPr>
          <p:cNvPr id="36" name="issue-chip-4"/>
          <p:cNvSpPr/>
          <p:nvPr/>
        </p:nvSpPr>
        <p:spPr>
          <a:xfrm>
            <a:off x="7406640" y="5806440"/>
            <a:ext cx="2148840" cy="457200"/>
          </a:xfrm>
          <a:prstGeom prst="roundRect">
            <a:avLst>
              <a:gd name="adj" fmla="val 50000"/>
            </a:avLst>
          </a:prstGeom>
          <a:solidFill>
            <a:schemeClr val="accent2"/>
          </a:solidFill>
          <a:ln w="12700">
            <a:solidFill>
              <a:schemeClr val="accent2"/>
            </a:solidFill>
            <a:prstDash val="solid"/>
          </a:ln>
        </p:spPr>
      </p:sp>
      <p:sp>
        <p:nvSpPr>
          <p:cNvPr id="37" name="Text 35"/>
          <p:cNvSpPr txBox="1"/>
          <p:nvPr/>
        </p:nvSpPr>
        <p:spPr>
          <a:xfrm>
            <a:off x="7406640" y="5806440"/>
            <a:ext cx="2148840" cy="45720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Temporal errors</a:t>
            </a:r>
            <a:endParaRPr lang="en-US" sz="1400" dirty="0"/>
          </a:p>
        </p:txBody>
      </p:sp>
      <p:sp>
        <p:nvSpPr>
          <p:cNvPr id="38" name="issue-chip-5"/>
          <p:cNvSpPr/>
          <p:nvPr/>
        </p:nvSpPr>
        <p:spPr>
          <a:xfrm>
            <a:off x="9692640" y="5806440"/>
            <a:ext cx="2148840" cy="457200"/>
          </a:xfrm>
          <a:prstGeom prst="roundRect">
            <a:avLst>
              <a:gd name="adj" fmla="val 50000"/>
            </a:avLst>
          </a:prstGeom>
          <a:solidFill>
            <a:schemeClr val="accent2"/>
          </a:solidFill>
          <a:ln w="12700">
            <a:solidFill>
              <a:schemeClr val="accent2"/>
            </a:solidFill>
            <a:prstDash val="solid"/>
          </a:ln>
        </p:spPr>
      </p:sp>
      <p:sp>
        <p:nvSpPr>
          <p:cNvPr id="39" name="Text 37"/>
          <p:cNvSpPr txBox="1"/>
          <p:nvPr/>
        </p:nvSpPr>
        <p:spPr>
          <a:xfrm>
            <a:off x="9692640" y="5806440"/>
            <a:ext cx="2148840" cy="45720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Terminology drift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How the pieces fit</a:t>
            </a:r>
            <a:endParaRPr lang="en-US" sz="3600" dirty="0"/>
          </a:p>
        </p:txBody>
      </p:sp>
      <p:sp>
        <p:nvSpPr>
          <p:cNvPr id="3" name="arch-card-1"/>
          <p:cNvSpPr/>
          <p:nvPr/>
        </p:nvSpPr>
        <p:spPr>
          <a:xfrm>
            <a:off x="548640" y="1371600"/>
            <a:ext cx="2286000" cy="2240280"/>
          </a:xfrm>
          <a:prstGeom prst="roundRect">
            <a:avLst>
              <a:gd name="adj" fmla="val 3265"/>
            </a:avLst>
          </a:prstGeom>
          <a:solidFill>
            <a:schemeClr val="bg2"/>
          </a:solidFill>
          <a:ln w="12700">
            <a:solidFill>
              <a:schemeClr val="bg2"/>
            </a:solidFill>
            <a:prstDash val="solid"/>
          </a:ln>
        </p:spPr>
      </p:sp>
      <p:sp>
        <p:nvSpPr>
          <p:cNvPr id="4" name="Text 2"/>
          <p:cNvSpPr txBox="1"/>
          <p:nvPr/>
        </p:nvSpPr>
        <p:spPr>
          <a:xfrm>
            <a:off x="713232" y="1508760"/>
            <a:ext cx="1956816" cy="5943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1  Linkage</a:t>
            </a:r>
            <a:endParaRPr lang="en-US" sz="1600" dirty="0"/>
          </a:p>
        </p:txBody>
      </p:sp>
      <p:sp>
        <p:nvSpPr>
          <p:cNvPr id="5" name="Text 3"/>
          <p:cNvSpPr txBox="1"/>
          <p:nvPr/>
        </p:nvSpPr>
        <p:spPr>
          <a:xfrm>
            <a:off x="713232" y="2148840"/>
            <a:ext cx="1956816" cy="13716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5 source systems, no shared ID. Fuzzy name, birth date and sex re-link records (pair recall 0.985).</a:t>
            </a:r>
            <a:endParaRPr lang="en-US" sz="1400" dirty="0"/>
          </a:p>
        </p:txBody>
      </p:sp>
      <p:sp>
        <p:nvSpPr>
          <p:cNvPr id="6" name="arch-card-2"/>
          <p:cNvSpPr/>
          <p:nvPr/>
        </p:nvSpPr>
        <p:spPr>
          <a:xfrm>
            <a:off x="3017520" y="1371600"/>
            <a:ext cx="2286000" cy="2240280"/>
          </a:xfrm>
          <a:prstGeom prst="roundRect">
            <a:avLst>
              <a:gd name="adj" fmla="val 3265"/>
            </a:avLst>
          </a:prstGeom>
          <a:solidFill>
            <a:schemeClr val="bg2"/>
          </a:solidFill>
          <a:ln w="12700">
            <a:solidFill>
              <a:schemeClr val="bg2"/>
            </a:solidFill>
            <a:prstDash val="solid"/>
          </a:ln>
        </p:spPr>
      </p:sp>
      <p:sp>
        <p:nvSpPr>
          <p:cNvPr id="7" name="Text 5"/>
          <p:cNvSpPr txBox="1"/>
          <p:nvPr/>
        </p:nvSpPr>
        <p:spPr>
          <a:xfrm>
            <a:off x="3182112" y="1508760"/>
            <a:ext cx="1956816" cy="5943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2  Rules</a:t>
            </a:r>
            <a:endParaRPr lang="en-US" sz="1600" dirty="0"/>
          </a:p>
        </p:txBody>
      </p:sp>
      <p:sp>
        <p:nvSpPr>
          <p:cNvPr id="8" name="Text 6"/>
          <p:cNvSpPr txBox="1"/>
          <p:nvPr/>
        </p:nvSpPr>
        <p:spPr>
          <a:xfrm>
            <a:off x="3182112" y="2148840"/>
            <a:ext cx="1956816" cy="13716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Duplicate, dose, allergy, missing-field, date and terminology checks. Every issue carries evidence.</a:t>
            </a:r>
            <a:endParaRPr lang="en-US" sz="1400" dirty="0"/>
          </a:p>
        </p:txBody>
      </p:sp>
      <p:sp>
        <p:nvSpPr>
          <p:cNvPr id="9" name="arch-card-3"/>
          <p:cNvSpPr/>
          <p:nvPr/>
        </p:nvSpPr>
        <p:spPr>
          <a:xfrm>
            <a:off x="5486400" y="1371600"/>
            <a:ext cx="2286000" cy="2240280"/>
          </a:xfrm>
          <a:prstGeom prst="roundRect">
            <a:avLst>
              <a:gd name="adj" fmla="val 3265"/>
            </a:avLst>
          </a:prstGeom>
          <a:solidFill>
            <a:schemeClr val="bg2"/>
          </a:solidFill>
          <a:ln w="12700">
            <a:solidFill>
              <a:schemeClr val="bg2"/>
            </a:solidFill>
            <a:prstDash val="solid"/>
          </a:ln>
        </p:spPr>
      </p:sp>
      <p:sp>
        <p:nvSpPr>
          <p:cNvPr id="10" name="Text 8"/>
          <p:cNvSpPr txBox="1"/>
          <p:nvPr/>
        </p:nvSpPr>
        <p:spPr>
          <a:xfrm>
            <a:off x="5650992" y="1508760"/>
            <a:ext cx="1956816" cy="5943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3  Gemini on the residual</a:t>
            </a:r>
            <a:endParaRPr lang="en-US" sz="1600" dirty="0"/>
          </a:p>
        </p:txBody>
      </p:sp>
      <p:sp>
        <p:nvSpPr>
          <p:cNvPr id="11" name="Text 9"/>
          <p:cNvSpPr txBox="1"/>
          <p:nvPr/>
        </p:nvSpPr>
        <p:spPr>
          <a:xfrm>
            <a:off x="5650992" y="2148840"/>
            <a:ext cx="1956816" cy="13716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Maps unfamiliar terms, reads notes with negations, judges borderline duplicates, writes explanations.</a:t>
            </a:r>
            <a:endParaRPr lang="en-US" sz="1400" dirty="0"/>
          </a:p>
        </p:txBody>
      </p:sp>
      <p:sp>
        <p:nvSpPr>
          <p:cNvPr id="12" name="arch-card-4"/>
          <p:cNvSpPr/>
          <p:nvPr/>
        </p:nvSpPr>
        <p:spPr>
          <a:xfrm>
            <a:off x="548640" y="3840480"/>
            <a:ext cx="2286000" cy="2240280"/>
          </a:xfrm>
          <a:prstGeom prst="roundRect">
            <a:avLst>
              <a:gd name="adj" fmla="val 3265"/>
            </a:avLst>
          </a:prstGeom>
          <a:solidFill>
            <a:schemeClr val="bg2"/>
          </a:solidFill>
          <a:ln w="12700">
            <a:solidFill>
              <a:schemeClr val="bg2"/>
            </a:solidFill>
            <a:prstDash val="solid"/>
          </a:ln>
        </p:spPr>
      </p:sp>
      <p:sp>
        <p:nvSpPr>
          <p:cNvPr id="13" name="Text 11"/>
          <p:cNvSpPr txBox="1"/>
          <p:nvPr/>
        </p:nvSpPr>
        <p:spPr>
          <a:xfrm>
            <a:off x="713232" y="3977640"/>
            <a:ext cx="1956816" cy="5943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4  RAG knowledge base</a:t>
            </a:r>
            <a:endParaRPr lang="en-US" sz="1600" dirty="0"/>
          </a:p>
        </p:txBody>
      </p:sp>
      <p:sp>
        <p:nvSpPr>
          <p:cNvPr id="14" name="Text 12"/>
          <p:cNvSpPr txBox="1"/>
          <p:nvPr/>
        </p:nvSpPr>
        <p:spPr>
          <a:xfrm>
            <a:off x="713232" y="4617720"/>
            <a:ext cx="1956816" cy="13716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10 guideline documents plus 63 vocabulary concepts. BM25 and character n-gram retrieval.</a:t>
            </a:r>
            <a:endParaRPr lang="en-US" sz="1400" dirty="0"/>
          </a:p>
        </p:txBody>
      </p:sp>
      <p:sp>
        <p:nvSpPr>
          <p:cNvPr id="15" name="arch-card-5"/>
          <p:cNvSpPr/>
          <p:nvPr/>
        </p:nvSpPr>
        <p:spPr>
          <a:xfrm>
            <a:off x="3017520" y="3840480"/>
            <a:ext cx="2286000" cy="2240280"/>
          </a:xfrm>
          <a:prstGeom prst="roundRect">
            <a:avLst>
              <a:gd name="adj" fmla="val 3265"/>
            </a:avLst>
          </a:prstGeom>
          <a:solidFill>
            <a:schemeClr val="bg2"/>
          </a:solidFill>
          <a:ln w="12700">
            <a:solidFill>
              <a:schemeClr val="bg2"/>
            </a:solidFill>
            <a:prstDash val="solid"/>
          </a:ln>
        </p:spPr>
      </p:sp>
      <p:sp>
        <p:nvSpPr>
          <p:cNvPr id="16" name="Text 14"/>
          <p:cNvSpPr txBox="1"/>
          <p:nvPr/>
        </p:nvSpPr>
        <p:spPr>
          <a:xfrm>
            <a:off x="3182112" y="3977640"/>
            <a:ext cx="1956816" cy="5943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5  Review agent</a:t>
            </a:r>
            <a:endParaRPr lang="en-US" sz="1600" dirty="0"/>
          </a:p>
        </p:txBody>
      </p:sp>
      <p:sp>
        <p:nvSpPr>
          <p:cNvPr id="17" name="Text 15"/>
          <p:cNvSpPr txBox="1"/>
          <p:nvPr/>
        </p:nvSpPr>
        <p:spPr>
          <a:xfrm>
            <a:off x="3182112" y="4617720"/>
            <a:ext cx="1956816" cy="13716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Investigates one flagged issue with tools. Budgets on calls, time and spend. Must cite retrieved guidelines.</a:t>
            </a:r>
            <a:endParaRPr lang="en-US" sz="1400" dirty="0"/>
          </a:p>
        </p:txBody>
      </p:sp>
      <p:sp>
        <p:nvSpPr>
          <p:cNvPr id="18" name="arch-card-6"/>
          <p:cNvSpPr/>
          <p:nvPr/>
        </p:nvSpPr>
        <p:spPr>
          <a:xfrm>
            <a:off x="5486400" y="3840480"/>
            <a:ext cx="2286000" cy="2240280"/>
          </a:xfrm>
          <a:prstGeom prst="roundRect">
            <a:avLst>
              <a:gd name="adj" fmla="val 3265"/>
            </a:avLst>
          </a:prstGeom>
          <a:solidFill>
            <a:schemeClr val="bg2"/>
          </a:solidFill>
          <a:ln w="12700">
            <a:solidFill>
              <a:schemeClr val="bg2"/>
            </a:solidFill>
            <a:prstDash val="solid"/>
          </a:ln>
        </p:spPr>
      </p:sp>
      <p:sp>
        <p:nvSpPr>
          <p:cNvPr id="19" name="Text 17"/>
          <p:cNvSpPr txBox="1"/>
          <p:nvPr/>
        </p:nvSpPr>
        <p:spPr>
          <a:xfrm>
            <a:off x="5650992" y="3977640"/>
            <a:ext cx="1956816" cy="5943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6  Human review</a:t>
            </a:r>
            <a:endParaRPr lang="en-US" sz="1600" dirty="0"/>
          </a:p>
        </p:txBody>
      </p:sp>
      <p:sp>
        <p:nvSpPr>
          <p:cNvPr id="20" name="Text 18"/>
          <p:cNvSpPr txBox="1"/>
          <p:nvPr/>
        </p:nvSpPr>
        <p:spPr>
          <a:xfrm>
            <a:off x="5650992" y="4617720"/>
            <a:ext cx="1956816" cy="13716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Accept, reject or unsure for every issue. Corrections are applied only after approval.</a:t>
            </a:r>
            <a:endParaRPr lang="en-US" sz="1400" dirty="0"/>
          </a:p>
        </p:txBody>
      </p:sp>
      <p:sp>
        <p:nvSpPr>
          <p:cNvPr id="21" name="Text 19"/>
          <p:cNvSpPr txBox="1"/>
          <p:nvPr/>
        </p:nvSpPr>
        <p:spPr>
          <a:xfrm>
            <a:off x="8183880" y="1371600"/>
            <a:ext cx="3474720" cy="365760"/>
          </a:xfrm>
          <a:prstGeom prst="rect">
            <a:avLst/>
          </a:prstGeom>
          <a:noFill/>
          <a:ln/>
        </p:spPr>
        <p:txBody>
          <a:bodyPr wrap="square" lIns="0" tIns="0" rIns="0" bIns="0" rtlCol="0" anchor="ctr"/>
          <a:lstStyle/>
          <a:p>
            <a:pPr indent="0" marL="0">
              <a:buNone/>
            </a:pPr>
            <a:r>
              <a:rPr lang="en-US" sz="2000" b="1" dirty="0">
                <a:solidFill>
                  <a:schemeClr val="tx2"/>
                </a:solidFill>
                <a:latin typeface="Calibri" pitchFamily="34" charset="0"/>
                <a:ea typeface="Calibri" pitchFamily="34" charset="-122"/>
                <a:cs typeface="Calibri" pitchFamily="34" charset="-120"/>
              </a:rPr>
              <a:t>Agent tools</a:t>
            </a:r>
            <a:endParaRPr lang="en-US" sz="2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183880" y="1828800"/>
          <a:ext cx="3474720" cy="914400"/>
        </p:xfrm>
        <a:graphic>
          <a:graphicData uri="http://schemas.openxmlformats.org/drawingml/2006/table">
            <a:tbl>
              <a:tblPr/>
              <a:tblGrid>
                <a:gridCol w="2377440"/>
                <a:gridCol w="1097280"/>
              </a:tblGrid>
              <a:tr h="38404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Tool</a:t>
                      </a:r>
                      <a:endParaRPr lang="en-US" sz="1400" dirty="0">
                        <a:latin typeface="Calibri" charset="0"/>
                        <a:ea typeface="Calibri" charset="0"/>
                        <a:cs typeface="Calibri" charset="0"/>
                      </a:endParaRPr>
                    </a:p>
                  </a:txBody>
                  <a:tcPr marL="73152" marR="73152" marT="73152" marB="73152" anchor="ctr">
                    <a:lnL w="6350" cap="flat" cmpd="sng" algn="ctr">
                      <a:solidFill>
                        <a:srgbClr val="8FB8B0"/>
                      </a:solidFill>
                      <a:prstDash val="solid"/>
                      <a:round/>
                      <a:headEnd type="none" w="med" len="med"/>
                      <a:tailEnd type="none" w="med" len="med"/>
                    </a:lnL>
                    <a:lnR w="6350" cap="flat" cmpd="sng" algn="ctr">
                      <a:solidFill>
                        <a:srgbClr val="8FB8B0"/>
                      </a:solidFill>
                      <a:prstDash val="solid"/>
                      <a:round/>
                      <a:headEnd type="none" w="med" len="med"/>
                      <a:tailEnd type="none" w="med" len="med"/>
                    </a:lnR>
                    <a:lnT w="6350" cap="flat" cmpd="sng" algn="ctr">
                      <a:solidFill>
                        <a:srgbClr val="8FB8B0"/>
                      </a:solidFill>
                      <a:prstDash val="solid"/>
                      <a:round/>
                      <a:headEnd type="none" w="med" len="med"/>
                      <a:tailEnd type="none" w="med" len="med"/>
                    </a:lnT>
                    <a:lnB w="6350" cap="flat" cmpd="sng" algn="ctr">
                      <a:solidFill>
                        <a:srgbClr val="8FB8B0"/>
                      </a:solidFill>
                      <a:prstDash val="solid"/>
                      <a:round/>
                      <a:headEnd type="none" w="med" len="med"/>
                      <a:tailEnd type="none" w="med" len="med"/>
                    </a:lnB>
                    <a:solidFill>
                      <a:srgbClr val="0B4F5C"/>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Privilege</a:t>
                      </a:r>
                      <a:endParaRPr lang="en-US" sz="1400" dirty="0">
                        <a:latin typeface="Calibri" charset="0"/>
                        <a:ea typeface="Calibri" charset="0"/>
                        <a:cs typeface="Calibri" charset="0"/>
                      </a:endParaRPr>
                    </a:p>
                  </a:txBody>
                  <a:tcPr marL="73152" marR="73152" marT="73152" marB="73152" anchor="ctr">
                    <a:lnL w="6350" cap="flat" cmpd="sng" algn="ctr">
                      <a:solidFill>
                        <a:srgbClr val="8FB8B0"/>
                      </a:solidFill>
                      <a:prstDash val="solid"/>
                      <a:round/>
                      <a:headEnd type="none" w="med" len="med"/>
                      <a:tailEnd type="none" w="med" len="med"/>
                    </a:lnL>
                    <a:lnR w="6350" cap="flat" cmpd="sng" algn="ctr">
                      <a:solidFill>
                        <a:srgbClr val="8FB8B0"/>
                      </a:solidFill>
                      <a:prstDash val="solid"/>
                      <a:round/>
                      <a:headEnd type="none" w="med" len="med"/>
                      <a:tailEnd type="none" w="med" len="med"/>
                    </a:lnR>
                    <a:lnT w="6350" cap="flat" cmpd="sng" algn="ctr">
                      <a:solidFill>
                        <a:srgbClr val="8FB8B0"/>
                      </a:solidFill>
                      <a:prstDash val="solid"/>
                      <a:round/>
                      <a:headEnd type="none" w="med" len="med"/>
                      <a:tailEnd type="none" w="med" len="med"/>
                    </a:lnT>
                    <a:lnB w="6350" cap="flat" cmpd="sng" algn="ctr">
                      <a:solidFill>
                        <a:srgbClr val="8FB8B0"/>
                      </a:solidFill>
                      <a:prstDash val="solid"/>
                      <a:round/>
                      <a:headEnd type="none" w="med" len="med"/>
                      <a:tailEnd type="none" w="med" len="med"/>
                    </a:lnB>
                    <a:solidFill>
                      <a:srgbClr val="0B4F5C"/>
                    </a:solidFill>
                  </a:tcPr>
                </a:tc>
              </a:tr>
              <a:tr h="384048">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search_guidelines (RAG)</a:t>
                      </a:r>
                      <a:endParaRPr lang="en-US" sz="1400" dirty="0">
                        <a:latin typeface="Calibri" charset="0"/>
                        <a:ea typeface="Calibri" charset="0"/>
                        <a:cs typeface="Calibri" charset="0"/>
                      </a:endParaRPr>
                    </a:p>
                  </a:txBody>
                  <a:tcPr marL="73152" marR="73152" marT="73152" marB="73152" anchor="ctr">
                    <a:lnL w="6350" cap="flat" cmpd="sng" algn="ctr">
                      <a:solidFill>
                        <a:srgbClr val="8FB8B0"/>
                      </a:solidFill>
                      <a:prstDash val="solid"/>
                      <a:round/>
                      <a:headEnd type="none" w="med" len="med"/>
                      <a:tailEnd type="none" w="med" len="med"/>
                    </a:lnL>
                    <a:lnR w="6350" cap="flat" cmpd="sng" algn="ctr">
                      <a:solidFill>
                        <a:srgbClr val="8FB8B0"/>
                      </a:solidFill>
                      <a:prstDash val="solid"/>
                      <a:round/>
                      <a:headEnd type="none" w="med" len="med"/>
                      <a:tailEnd type="none" w="med" len="med"/>
                    </a:lnR>
                    <a:lnT w="6350" cap="flat" cmpd="sng" algn="ctr">
                      <a:solidFill>
                        <a:srgbClr val="8FB8B0"/>
                      </a:solidFill>
                      <a:prstDash val="solid"/>
                      <a:round/>
                      <a:headEnd type="none" w="med" len="med"/>
                      <a:tailEnd type="none" w="med" len="med"/>
                    </a:lnT>
                    <a:lnB w="6350" cap="flat" cmpd="sng" algn="ctr">
                      <a:solidFill>
                        <a:srgbClr val="8FB8B0"/>
                      </a:solidFill>
                      <a:prstDash val="solid"/>
                      <a:round/>
                      <a:headEnd type="none" w="med" len="med"/>
                      <a:tailEnd type="none" w="med" len="med"/>
                    </a:lnB>
                  </a:tcPr>
                </a:tc>
                <a:tc>
                  <a:txBody>
                    <a:bodyPr/>
                    <a:lstStyle/>
                    <a:p>
                      <a:pPr indent="0" marL="0">
                        <a:buNone/>
                      </a:pPr>
                      <a:r>
                        <a:rPr lang="en-US" sz="1400" b="1" dirty="0">
                          <a:solidFill>
                            <a:srgbClr val="1C9C8C"/>
                          </a:solidFill>
                          <a:latin typeface="Calibri" pitchFamily="34" charset="0"/>
                          <a:ea typeface="Calibri" pitchFamily="34" charset="-122"/>
                          <a:cs typeface="Calibri" pitchFamily="34" charset="-120"/>
                        </a:rPr>
                        <a:t>low</a:t>
                      </a:r>
                      <a:endParaRPr lang="en-US" sz="1400" dirty="0">
                        <a:latin typeface="Calibri" charset="0"/>
                        <a:ea typeface="Calibri" charset="0"/>
                        <a:cs typeface="Calibri" charset="0"/>
                      </a:endParaRPr>
                    </a:p>
                  </a:txBody>
                  <a:tcPr marL="73152" marR="73152" marT="73152" marB="73152" anchor="ctr">
                    <a:lnL w="6350" cap="flat" cmpd="sng" algn="ctr">
                      <a:solidFill>
                        <a:srgbClr val="8FB8B0"/>
                      </a:solidFill>
                      <a:prstDash val="solid"/>
                      <a:round/>
                      <a:headEnd type="none" w="med" len="med"/>
                      <a:tailEnd type="none" w="med" len="med"/>
                    </a:lnL>
                    <a:lnR w="6350" cap="flat" cmpd="sng" algn="ctr">
                      <a:solidFill>
                        <a:srgbClr val="8FB8B0"/>
                      </a:solidFill>
                      <a:prstDash val="solid"/>
                      <a:round/>
                      <a:headEnd type="none" w="med" len="med"/>
                      <a:tailEnd type="none" w="med" len="med"/>
                    </a:lnR>
                    <a:lnT w="6350" cap="flat" cmpd="sng" algn="ctr">
                      <a:solidFill>
                        <a:srgbClr val="8FB8B0"/>
                      </a:solidFill>
                      <a:prstDash val="solid"/>
                      <a:round/>
                      <a:headEnd type="none" w="med" len="med"/>
                      <a:tailEnd type="none" w="med" len="med"/>
                    </a:lnT>
                    <a:lnB w="6350" cap="flat" cmpd="sng" algn="ctr">
                      <a:solidFill>
                        <a:srgbClr val="8FB8B0"/>
                      </a:solidFill>
                      <a:prstDash val="solid"/>
                      <a:round/>
                      <a:headEnd type="none" w="med" len="med"/>
                      <a:tailEnd type="none" w="med" len="med"/>
                    </a:lnB>
                  </a:tcPr>
                </a:tc>
              </a:tr>
              <a:tr h="384048">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lookup_term (RAG)</a:t>
                      </a:r>
                      <a:endParaRPr lang="en-US" sz="1400" dirty="0">
                        <a:latin typeface="Calibri" charset="0"/>
                        <a:ea typeface="Calibri" charset="0"/>
                        <a:cs typeface="Calibri" charset="0"/>
                      </a:endParaRPr>
                    </a:p>
                  </a:txBody>
                  <a:tcPr marL="73152" marR="73152" marT="73152" marB="73152" anchor="ctr">
                    <a:lnL w="6350" cap="flat" cmpd="sng" algn="ctr">
                      <a:solidFill>
                        <a:srgbClr val="8FB8B0"/>
                      </a:solidFill>
                      <a:prstDash val="solid"/>
                      <a:round/>
                      <a:headEnd type="none" w="med" len="med"/>
                      <a:tailEnd type="none" w="med" len="med"/>
                    </a:lnL>
                    <a:lnR w="6350" cap="flat" cmpd="sng" algn="ctr">
                      <a:solidFill>
                        <a:srgbClr val="8FB8B0"/>
                      </a:solidFill>
                      <a:prstDash val="solid"/>
                      <a:round/>
                      <a:headEnd type="none" w="med" len="med"/>
                      <a:tailEnd type="none" w="med" len="med"/>
                    </a:lnR>
                    <a:lnT w="6350" cap="flat" cmpd="sng" algn="ctr">
                      <a:solidFill>
                        <a:srgbClr val="8FB8B0"/>
                      </a:solidFill>
                      <a:prstDash val="solid"/>
                      <a:round/>
                      <a:headEnd type="none" w="med" len="med"/>
                      <a:tailEnd type="none" w="med" len="med"/>
                    </a:lnT>
                    <a:lnB w="6350" cap="flat" cmpd="sng" algn="ctr">
                      <a:solidFill>
                        <a:srgbClr val="8FB8B0"/>
                      </a:solidFill>
                      <a:prstDash val="solid"/>
                      <a:round/>
                      <a:headEnd type="none" w="med" len="med"/>
                      <a:tailEnd type="none" w="med" len="med"/>
                    </a:lnB>
                  </a:tcPr>
                </a:tc>
                <a:tc>
                  <a:txBody>
                    <a:bodyPr/>
                    <a:lstStyle/>
                    <a:p>
                      <a:pPr indent="0" marL="0">
                        <a:buNone/>
                      </a:pPr>
                      <a:r>
                        <a:rPr lang="en-US" sz="1400" b="1" dirty="0">
                          <a:solidFill>
                            <a:srgbClr val="1C9C8C"/>
                          </a:solidFill>
                          <a:latin typeface="Calibri" pitchFamily="34" charset="0"/>
                          <a:ea typeface="Calibri" pitchFamily="34" charset="-122"/>
                          <a:cs typeface="Calibri" pitchFamily="34" charset="-120"/>
                        </a:rPr>
                        <a:t>low</a:t>
                      </a:r>
                      <a:endParaRPr lang="en-US" sz="1400" dirty="0">
                        <a:latin typeface="Calibri" charset="0"/>
                        <a:ea typeface="Calibri" charset="0"/>
                        <a:cs typeface="Calibri" charset="0"/>
                      </a:endParaRPr>
                    </a:p>
                  </a:txBody>
                  <a:tcPr marL="73152" marR="73152" marT="73152" marB="73152" anchor="ctr">
                    <a:lnL w="6350" cap="flat" cmpd="sng" algn="ctr">
                      <a:solidFill>
                        <a:srgbClr val="8FB8B0"/>
                      </a:solidFill>
                      <a:prstDash val="solid"/>
                      <a:round/>
                      <a:headEnd type="none" w="med" len="med"/>
                      <a:tailEnd type="none" w="med" len="med"/>
                    </a:lnL>
                    <a:lnR w="6350" cap="flat" cmpd="sng" algn="ctr">
                      <a:solidFill>
                        <a:srgbClr val="8FB8B0"/>
                      </a:solidFill>
                      <a:prstDash val="solid"/>
                      <a:round/>
                      <a:headEnd type="none" w="med" len="med"/>
                      <a:tailEnd type="none" w="med" len="med"/>
                    </a:lnR>
                    <a:lnT w="6350" cap="flat" cmpd="sng" algn="ctr">
                      <a:solidFill>
                        <a:srgbClr val="8FB8B0"/>
                      </a:solidFill>
                      <a:prstDash val="solid"/>
                      <a:round/>
                      <a:headEnd type="none" w="med" len="med"/>
                      <a:tailEnd type="none" w="med" len="med"/>
                    </a:lnT>
                    <a:lnB w="6350" cap="flat" cmpd="sng" algn="ctr">
                      <a:solidFill>
                        <a:srgbClr val="8FB8B0"/>
                      </a:solidFill>
                      <a:prstDash val="solid"/>
                      <a:round/>
                      <a:headEnd type="none" w="med" len="med"/>
                      <a:tailEnd type="none" w="med" len="med"/>
                    </a:lnB>
                  </a:tcPr>
                </a:tc>
              </a:tr>
              <a:tr h="384048">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run_rule_checks</a:t>
                      </a:r>
                      <a:endParaRPr lang="en-US" sz="1400" dirty="0">
                        <a:latin typeface="Calibri" charset="0"/>
                        <a:ea typeface="Calibri" charset="0"/>
                        <a:cs typeface="Calibri" charset="0"/>
                      </a:endParaRPr>
                    </a:p>
                  </a:txBody>
                  <a:tcPr marL="73152" marR="73152" marT="73152" marB="73152" anchor="ctr">
                    <a:lnL w="6350" cap="flat" cmpd="sng" algn="ctr">
                      <a:solidFill>
                        <a:srgbClr val="8FB8B0"/>
                      </a:solidFill>
                      <a:prstDash val="solid"/>
                      <a:round/>
                      <a:headEnd type="none" w="med" len="med"/>
                      <a:tailEnd type="none" w="med" len="med"/>
                    </a:lnL>
                    <a:lnR w="6350" cap="flat" cmpd="sng" algn="ctr">
                      <a:solidFill>
                        <a:srgbClr val="8FB8B0"/>
                      </a:solidFill>
                      <a:prstDash val="solid"/>
                      <a:round/>
                      <a:headEnd type="none" w="med" len="med"/>
                      <a:tailEnd type="none" w="med" len="med"/>
                    </a:lnR>
                    <a:lnT w="6350" cap="flat" cmpd="sng" algn="ctr">
                      <a:solidFill>
                        <a:srgbClr val="8FB8B0"/>
                      </a:solidFill>
                      <a:prstDash val="solid"/>
                      <a:round/>
                      <a:headEnd type="none" w="med" len="med"/>
                      <a:tailEnd type="none" w="med" len="med"/>
                    </a:lnT>
                    <a:lnB w="6350" cap="flat" cmpd="sng" algn="ctr">
                      <a:solidFill>
                        <a:srgbClr val="8FB8B0"/>
                      </a:solidFill>
                      <a:prstDash val="solid"/>
                      <a:round/>
                      <a:headEnd type="none" w="med" len="med"/>
                      <a:tailEnd type="none" w="med" len="med"/>
                    </a:lnB>
                  </a:tcPr>
                </a:tc>
                <a:tc>
                  <a:txBody>
                    <a:bodyPr/>
                    <a:lstStyle/>
                    <a:p>
                      <a:pPr indent="0" marL="0">
                        <a:buNone/>
                      </a:pPr>
                      <a:r>
                        <a:rPr lang="en-US" sz="1400" b="1" dirty="0">
                          <a:solidFill>
                            <a:srgbClr val="1C9C8C"/>
                          </a:solidFill>
                          <a:latin typeface="Calibri" pitchFamily="34" charset="0"/>
                          <a:ea typeface="Calibri" pitchFamily="34" charset="-122"/>
                          <a:cs typeface="Calibri" pitchFamily="34" charset="-120"/>
                        </a:rPr>
                        <a:t>low</a:t>
                      </a:r>
                      <a:endParaRPr lang="en-US" sz="1400" dirty="0">
                        <a:latin typeface="Calibri" charset="0"/>
                        <a:ea typeface="Calibri" charset="0"/>
                        <a:cs typeface="Calibri" charset="0"/>
                      </a:endParaRPr>
                    </a:p>
                  </a:txBody>
                  <a:tcPr marL="73152" marR="73152" marT="73152" marB="73152" anchor="ctr">
                    <a:lnL w="6350" cap="flat" cmpd="sng" algn="ctr">
                      <a:solidFill>
                        <a:srgbClr val="8FB8B0"/>
                      </a:solidFill>
                      <a:prstDash val="solid"/>
                      <a:round/>
                      <a:headEnd type="none" w="med" len="med"/>
                      <a:tailEnd type="none" w="med" len="med"/>
                    </a:lnL>
                    <a:lnR w="6350" cap="flat" cmpd="sng" algn="ctr">
                      <a:solidFill>
                        <a:srgbClr val="8FB8B0"/>
                      </a:solidFill>
                      <a:prstDash val="solid"/>
                      <a:round/>
                      <a:headEnd type="none" w="med" len="med"/>
                      <a:tailEnd type="none" w="med" len="med"/>
                    </a:lnR>
                    <a:lnT w="6350" cap="flat" cmpd="sng" algn="ctr">
                      <a:solidFill>
                        <a:srgbClr val="8FB8B0"/>
                      </a:solidFill>
                      <a:prstDash val="solid"/>
                      <a:round/>
                      <a:headEnd type="none" w="med" len="med"/>
                      <a:tailEnd type="none" w="med" len="med"/>
                    </a:lnT>
                    <a:lnB w="6350" cap="flat" cmpd="sng" algn="ctr">
                      <a:solidFill>
                        <a:srgbClr val="8FB8B0"/>
                      </a:solidFill>
                      <a:prstDash val="solid"/>
                      <a:round/>
                      <a:headEnd type="none" w="med" len="med"/>
                      <a:tailEnd type="none" w="med" len="med"/>
                    </a:lnB>
                  </a:tcPr>
                </a:tc>
              </a:tr>
              <a:tr h="384048">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get_patient_records</a:t>
                      </a:r>
                      <a:endParaRPr lang="en-US" sz="1400" dirty="0">
                        <a:latin typeface="Calibri" charset="0"/>
                        <a:ea typeface="Calibri" charset="0"/>
                        <a:cs typeface="Calibri" charset="0"/>
                      </a:endParaRPr>
                    </a:p>
                  </a:txBody>
                  <a:tcPr marL="73152" marR="73152" marT="73152" marB="73152" anchor="ctr">
                    <a:lnL w="6350" cap="flat" cmpd="sng" algn="ctr">
                      <a:solidFill>
                        <a:srgbClr val="8FB8B0"/>
                      </a:solidFill>
                      <a:prstDash val="solid"/>
                      <a:round/>
                      <a:headEnd type="none" w="med" len="med"/>
                      <a:tailEnd type="none" w="med" len="med"/>
                    </a:lnL>
                    <a:lnR w="6350" cap="flat" cmpd="sng" algn="ctr">
                      <a:solidFill>
                        <a:srgbClr val="8FB8B0"/>
                      </a:solidFill>
                      <a:prstDash val="solid"/>
                      <a:round/>
                      <a:headEnd type="none" w="med" len="med"/>
                      <a:tailEnd type="none" w="med" len="med"/>
                    </a:lnR>
                    <a:lnT w="6350" cap="flat" cmpd="sng" algn="ctr">
                      <a:solidFill>
                        <a:srgbClr val="8FB8B0"/>
                      </a:solidFill>
                      <a:prstDash val="solid"/>
                      <a:round/>
                      <a:headEnd type="none" w="med" len="med"/>
                      <a:tailEnd type="none" w="med" len="med"/>
                    </a:lnT>
                    <a:lnB w="6350" cap="flat" cmpd="sng" algn="ctr">
                      <a:solidFill>
                        <a:srgbClr val="8FB8B0"/>
                      </a:solidFill>
                      <a:prstDash val="solid"/>
                      <a:round/>
                      <a:headEnd type="none" w="med" len="med"/>
                      <a:tailEnd type="none" w="med" len="med"/>
                    </a:lnB>
                  </a:tcPr>
                </a:tc>
                <a:tc>
                  <a:txBody>
                    <a:bodyPr/>
                    <a:lstStyle/>
                    <a:p>
                      <a:pPr indent="0" marL="0">
                        <a:buNone/>
                      </a:pPr>
                      <a:r>
                        <a:rPr lang="en-US" sz="1400" b="1" dirty="0">
                          <a:solidFill>
                            <a:srgbClr val="E8A93B"/>
                          </a:solidFill>
                          <a:latin typeface="Calibri" pitchFamily="34" charset="0"/>
                          <a:ea typeface="Calibri" pitchFamily="34" charset="-122"/>
                          <a:cs typeface="Calibri" pitchFamily="34" charset="-120"/>
                        </a:rPr>
                        <a:t>medium</a:t>
                      </a:r>
                      <a:endParaRPr lang="en-US" sz="1400" dirty="0">
                        <a:latin typeface="Calibri" charset="0"/>
                        <a:ea typeface="Calibri" charset="0"/>
                        <a:cs typeface="Calibri" charset="0"/>
                      </a:endParaRPr>
                    </a:p>
                  </a:txBody>
                  <a:tcPr marL="73152" marR="73152" marT="73152" marB="73152" anchor="ctr">
                    <a:lnL w="6350" cap="flat" cmpd="sng" algn="ctr">
                      <a:solidFill>
                        <a:srgbClr val="8FB8B0"/>
                      </a:solidFill>
                      <a:prstDash val="solid"/>
                      <a:round/>
                      <a:headEnd type="none" w="med" len="med"/>
                      <a:tailEnd type="none" w="med" len="med"/>
                    </a:lnL>
                    <a:lnR w="6350" cap="flat" cmpd="sng" algn="ctr">
                      <a:solidFill>
                        <a:srgbClr val="8FB8B0"/>
                      </a:solidFill>
                      <a:prstDash val="solid"/>
                      <a:round/>
                      <a:headEnd type="none" w="med" len="med"/>
                      <a:tailEnd type="none" w="med" len="med"/>
                    </a:lnR>
                    <a:lnT w="6350" cap="flat" cmpd="sng" algn="ctr">
                      <a:solidFill>
                        <a:srgbClr val="8FB8B0"/>
                      </a:solidFill>
                      <a:prstDash val="solid"/>
                      <a:round/>
                      <a:headEnd type="none" w="med" len="med"/>
                      <a:tailEnd type="none" w="med" len="med"/>
                    </a:lnT>
                    <a:lnB w="6350" cap="flat" cmpd="sng" algn="ctr">
                      <a:solidFill>
                        <a:srgbClr val="8FB8B0"/>
                      </a:solidFill>
                      <a:prstDash val="solid"/>
                      <a:round/>
                      <a:headEnd type="none" w="med" len="med"/>
                      <a:tailEnd type="none" w="med" len="med"/>
                    </a:lnB>
                  </a:tcPr>
                </a:tc>
              </a:tr>
              <a:tr h="384048">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apply_correction</a:t>
                      </a:r>
                      <a:endParaRPr lang="en-US" sz="1400" dirty="0">
                        <a:latin typeface="Calibri" charset="0"/>
                        <a:ea typeface="Calibri" charset="0"/>
                        <a:cs typeface="Calibri" charset="0"/>
                      </a:endParaRPr>
                    </a:p>
                  </a:txBody>
                  <a:tcPr marL="73152" marR="73152" marT="73152" marB="73152" anchor="ctr">
                    <a:lnL w="6350" cap="flat" cmpd="sng" algn="ctr">
                      <a:solidFill>
                        <a:srgbClr val="8FB8B0"/>
                      </a:solidFill>
                      <a:prstDash val="solid"/>
                      <a:round/>
                      <a:headEnd type="none" w="med" len="med"/>
                      <a:tailEnd type="none" w="med" len="med"/>
                    </a:lnL>
                    <a:lnR w="6350" cap="flat" cmpd="sng" algn="ctr">
                      <a:solidFill>
                        <a:srgbClr val="8FB8B0"/>
                      </a:solidFill>
                      <a:prstDash val="solid"/>
                      <a:round/>
                      <a:headEnd type="none" w="med" len="med"/>
                      <a:tailEnd type="none" w="med" len="med"/>
                    </a:lnR>
                    <a:lnT w="6350" cap="flat" cmpd="sng" algn="ctr">
                      <a:solidFill>
                        <a:srgbClr val="8FB8B0"/>
                      </a:solidFill>
                      <a:prstDash val="solid"/>
                      <a:round/>
                      <a:headEnd type="none" w="med" len="med"/>
                      <a:tailEnd type="none" w="med" len="med"/>
                    </a:lnT>
                    <a:lnB w="6350" cap="flat" cmpd="sng" algn="ctr">
                      <a:solidFill>
                        <a:srgbClr val="8FB8B0"/>
                      </a:solidFill>
                      <a:prstDash val="solid"/>
                      <a:round/>
                      <a:headEnd type="none" w="med" len="med"/>
                      <a:tailEnd type="none" w="med" len="med"/>
                    </a:lnB>
                  </a:tcPr>
                </a:tc>
                <a:tc>
                  <a:txBody>
                    <a:bodyPr/>
                    <a:lstStyle/>
                    <a:p>
                      <a:pPr indent="0" marL="0">
                        <a:buNone/>
                      </a:pPr>
                      <a:r>
                        <a:rPr lang="en-US" sz="1400" b="1" dirty="0">
                          <a:solidFill>
                            <a:srgbClr val="E4574A"/>
                          </a:solidFill>
                          <a:latin typeface="Calibri" pitchFamily="34" charset="0"/>
                          <a:ea typeface="Calibri" pitchFamily="34" charset="-122"/>
                          <a:cs typeface="Calibri" pitchFamily="34" charset="-120"/>
                        </a:rPr>
                        <a:t>HIGH</a:t>
                      </a:r>
                      <a:endParaRPr lang="en-US" sz="1400" dirty="0">
                        <a:latin typeface="Calibri" charset="0"/>
                        <a:ea typeface="Calibri" charset="0"/>
                        <a:cs typeface="Calibri" charset="0"/>
                      </a:endParaRPr>
                    </a:p>
                  </a:txBody>
                  <a:tcPr marL="73152" marR="73152" marT="73152" marB="73152" anchor="ctr">
                    <a:lnL w="6350" cap="flat" cmpd="sng" algn="ctr">
                      <a:solidFill>
                        <a:srgbClr val="8FB8B0"/>
                      </a:solidFill>
                      <a:prstDash val="solid"/>
                      <a:round/>
                      <a:headEnd type="none" w="med" len="med"/>
                      <a:tailEnd type="none" w="med" len="med"/>
                    </a:lnL>
                    <a:lnR w="6350" cap="flat" cmpd="sng" algn="ctr">
                      <a:solidFill>
                        <a:srgbClr val="8FB8B0"/>
                      </a:solidFill>
                      <a:prstDash val="solid"/>
                      <a:round/>
                      <a:headEnd type="none" w="med" len="med"/>
                      <a:tailEnd type="none" w="med" len="med"/>
                    </a:lnR>
                    <a:lnT w="6350" cap="flat" cmpd="sng" algn="ctr">
                      <a:solidFill>
                        <a:srgbClr val="8FB8B0"/>
                      </a:solidFill>
                      <a:prstDash val="solid"/>
                      <a:round/>
                      <a:headEnd type="none" w="med" len="med"/>
                      <a:tailEnd type="none" w="med" len="med"/>
                    </a:lnT>
                    <a:lnB w="6350" cap="flat" cmpd="sng" algn="ctr">
                      <a:solidFill>
                        <a:srgbClr val="8FB8B0"/>
                      </a:solidFill>
                      <a:prstDash val="solid"/>
                      <a:round/>
                      <a:headEnd type="none" w="med" len="med"/>
                      <a:tailEnd type="none" w="med" len="med"/>
                    </a:lnB>
                  </a:tcPr>
                </a:tc>
              </a:tr>
            </a:tbl>
          </a:graphicData>
        </a:graphic>
      </p:graphicFrame>
      <p:sp>
        <p:nvSpPr>
          <p:cNvPr id="23" name="Text 20"/>
          <p:cNvSpPr txBox="1"/>
          <p:nvPr/>
        </p:nvSpPr>
        <p:spPr>
          <a:xfrm>
            <a:off x="8183880" y="4343400"/>
            <a:ext cx="3474720" cy="15544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apply_correction only reaches 3 demographic or encounter fields, only inside the case, and only after a human approves. These limits are enforced in code, not in the prompt.</a:t>
            </a:r>
            <a:endParaRPr lang="en-US" sz="14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Hybrid beats both baselines</a:t>
            </a:r>
            <a:endParaRPr lang="en-US" sz="3600" dirty="0"/>
          </a:p>
        </p:txBody>
      </p:sp>
      <p:graphicFrame>
        <p:nvGraphicFramePr>
          <p:cNvPr id="3" name="Chart 0" descr=""/>
          <p:cNvGraphicFramePr/>
          <p:nvPr/>
        </p:nvGraphicFramePr>
        <p:xfrm>
          <a:off x="548640" y="128016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4" name="stat-f1"/>
          <p:cNvSpPr/>
          <p:nvPr/>
        </p:nvSpPr>
        <p:spPr>
          <a:xfrm>
            <a:off x="7863840" y="1280160"/>
            <a:ext cx="3794760" cy="1325880"/>
          </a:xfrm>
          <a:prstGeom prst="roundRect">
            <a:avLst>
              <a:gd name="adj" fmla="val 5517"/>
            </a:avLst>
          </a:prstGeom>
          <a:solidFill>
            <a:schemeClr val="bg2"/>
          </a:solidFill>
          <a:ln w="12700">
            <a:solidFill>
              <a:schemeClr val="bg2"/>
            </a:solidFill>
            <a:prstDash val="solid"/>
          </a:ln>
        </p:spPr>
      </p:sp>
      <p:sp>
        <p:nvSpPr>
          <p:cNvPr id="5" name="Text 2"/>
          <p:cNvSpPr txBox="1"/>
          <p:nvPr/>
        </p:nvSpPr>
        <p:spPr>
          <a:xfrm>
            <a:off x="8046720" y="1371600"/>
            <a:ext cx="3429000" cy="59436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0.992</a:t>
            </a:r>
            <a:endParaRPr lang="en-US" sz="3600" dirty="0"/>
          </a:p>
        </p:txBody>
      </p:sp>
      <p:sp>
        <p:nvSpPr>
          <p:cNvPr id="6" name="Text 3"/>
          <p:cNvSpPr txBox="1"/>
          <p:nvPr/>
        </p:nvSpPr>
        <p:spPr>
          <a:xfrm>
            <a:off x="8046720" y="1993392"/>
            <a:ext cx="3429000"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micro-F1, recall 0.98, precision 1.00 (rules 0.943, LLM-only 0.890)</a:t>
            </a:r>
            <a:endParaRPr lang="en-US" sz="1400" dirty="0"/>
          </a:p>
        </p:txBody>
      </p:sp>
      <p:sp>
        <p:nvSpPr>
          <p:cNvPr id="7" name="stat-cost"/>
          <p:cNvSpPr/>
          <p:nvPr/>
        </p:nvSpPr>
        <p:spPr>
          <a:xfrm>
            <a:off x="7863840" y="2743200"/>
            <a:ext cx="3794760" cy="1325880"/>
          </a:xfrm>
          <a:prstGeom prst="roundRect">
            <a:avLst>
              <a:gd name="adj" fmla="val 5517"/>
            </a:avLst>
          </a:prstGeom>
          <a:solidFill>
            <a:schemeClr val="bg2"/>
          </a:solidFill>
          <a:ln w="12700">
            <a:solidFill>
              <a:schemeClr val="bg2"/>
            </a:solidFill>
            <a:prstDash val="solid"/>
          </a:ln>
        </p:spPr>
      </p:sp>
      <p:sp>
        <p:nvSpPr>
          <p:cNvPr id="8" name="Text 5"/>
          <p:cNvSpPr txBox="1"/>
          <p:nvPr/>
        </p:nvSpPr>
        <p:spPr>
          <a:xfrm>
            <a:off x="8046720" y="2834640"/>
            <a:ext cx="3429000" cy="59436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$4.41</a:t>
            </a:r>
            <a:endParaRPr lang="en-US" sz="3600" dirty="0"/>
          </a:p>
        </p:txBody>
      </p:sp>
      <p:sp>
        <p:nvSpPr>
          <p:cNvPr id="9" name="Text 6"/>
          <p:cNvSpPr txBox="1"/>
          <p:nvPr/>
        </p:nvSpPr>
        <p:spPr>
          <a:xfrm>
            <a:off x="8046720" y="3456432"/>
            <a:ext cx="3429000"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Gemini cost, versus $10.56 for the LLM-only baseline</a:t>
            </a:r>
            <a:endParaRPr lang="en-US" sz="1400" dirty="0"/>
          </a:p>
        </p:txBody>
      </p:sp>
      <p:sp>
        <p:nvSpPr>
          <p:cNvPr id="10" name="stat-rag"/>
          <p:cNvSpPr/>
          <p:nvPr/>
        </p:nvSpPr>
        <p:spPr>
          <a:xfrm>
            <a:off x="7863840" y="4206240"/>
            <a:ext cx="3794760" cy="1325880"/>
          </a:xfrm>
          <a:prstGeom prst="roundRect">
            <a:avLst>
              <a:gd name="adj" fmla="val 5517"/>
            </a:avLst>
          </a:prstGeom>
          <a:solidFill>
            <a:schemeClr val="bg2"/>
          </a:solidFill>
          <a:ln w="12700">
            <a:solidFill>
              <a:schemeClr val="bg2"/>
            </a:solidFill>
            <a:prstDash val="solid"/>
          </a:ln>
        </p:spPr>
      </p:sp>
      <p:sp>
        <p:nvSpPr>
          <p:cNvPr id="11" name="Text 8"/>
          <p:cNvSpPr txBox="1"/>
          <p:nvPr/>
        </p:nvSpPr>
        <p:spPr>
          <a:xfrm>
            <a:off x="8046720" y="4297680"/>
            <a:ext cx="3429000" cy="59436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0.80</a:t>
            </a:r>
            <a:endParaRPr lang="en-US" sz="3600" dirty="0"/>
          </a:p>
        </p:txBody>
      </p:sp>
      <p:sp>
        <p:nvSpPr>
          <p:cNvPr id="12" name="Text 9"/>
          <p:cNvSpPr txBox="1"/>
          <p:nvPr/>
        </p:nvSpPr>
        <p:spPr>
          <a:xfrm>
            <a:off x="8046720" y="4919472"/>
            <a:ext cx="3429000"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RAG recall@5 on hard terms; at this size the full menu wins</a:t>
            </a:r>
            <a:endParaRPr lang="en-US" sz="1400" dirty="0"/>
          </a:p>
        </p:txBody>
      </p:sp>
      <p:sp>
        <p:nvSpPr>
          <p:cNvPr id="13" name="Text 10"/>
          <p:cNvSpPr txBox="1"/>
          <p:nvPr/>
        </p:nvSpPr>
        <p:spPr>
          <a:xfrm>
            <a:off x="548640" y="5943600"/>
            <a:ext cx="11064240" cy="4572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Synthetic data, one run per LLM system. Most LLM-only unmatched flags are real inconsistencies the answer key does not label, so its precision is understated.</a:t>
            </a:r>
            <a:endParaRPr lang="en-US" sz="12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Guardrails make injection survivable</a:t>
            </a:r>
            <a:endParaRPr lang="en-US" sz="3600" dirty="0"/>
          </a:p>
        </p:txBody>
      </p:sp>
      <p:graphicFrame>
        <p:nvGraphicFramePr>
          <p:cNvPr id="3" name="Chart 0" descr=""/>
          <p:cNvGraphicFramePr/>
          <p:nvPr/>
        </p:nvGraphicFramePr>
        <p:xfrm>
          <a:off x="548640" y="1280160"/>
          <a:ext cx="6949440" cy="3657600"/>
        </p:xfrm>
        <a:graphic xmlns:a="http://schemas.openxmlformats.org/drawingml/2006/main">
          <a:graphicData uri="http://schemas.openxmlformats.org/drawingml/2006/chart">
            <c:chart xmlns:c="http://schemas.openxmlformats.org/drawingml/2006/chart" r:id="rId1"/>
          </a:graphicData>
        </a:graphic>
      </p:graphicFrame>
      <p:sp>
        <p:nvSpPr>
          <p:cNvPr id="4" name="fp-callout"/>
          <p:cNvSpPr/>
          <p:nvPr/>
        </p:nvSpPr>
        <p:spPr>
          <a:xfrm>
            <a:off x="548640" y="5074920"/>
            <a:ext cx="6949440" cy="1188720"/>
          </a:xfrm>
          <a:prstGeom prst="roundRect">
            <a:avLst>
              <a:gd name="adj" fmla="val 6154"/>
            </a:avLst>
          </a:prstGeom>
          <a:solidFill>
            <a:schemeClr val="bg2"/>
          </a:solidFill>
          <a:ln w="12700">
            <a:solidFill>
              <a:schemeClr val="bg2"/>
            </a:solidFill>
            <a:prstDash val="solid"/>
          </a:ln>
        </p:spPr>
      </p:sp>
      <p:sp>
        <p:nvSpPr>
          <p:cNvPr id="5" name="Text 2"/>
          <p:cNvSpPr txBox="1"/>
          <p:nvPr/>
        </p:nvSpPr>
        <p:spPr>
          <a:xfrm>
            <a:off x="731520" y="5166360"/>
            <a:ext cx="6583680" cy="1005840"/>
          </a:xfrm>
          <a:prstGeom prst="rect">
            <a:avLst/>
          </a:prstGeom>
          <a:noFill/>
          <a:ln/>
        </p:spPr>
        <p:txBody>
          <a:bodyPr wrap="square" lIns="0" tIns="0" rIns="0" bIns="0" rtlCol="0" anchor="ctr"/>
          <a:lstStyle/>
          <a:p>
            <a:pPr indent="0" marL="0">
              <a:buNone/>
            </a:pPr>
            <a:r>
              <a:rPr lang="en-US" sz="1400" b="1" dirty="0">
                <a:solidFill>
                  <a:srgbClr val="0B4F5C"/>
                </a:solidFill>
                <a:latin typeface="Calibri" pitchFamily="34" charset="0"/>
                <a:ea typeface="Calibri" pitchFamily="34" charset="-122"/>
                <a:cs typeface="Calibri" pitchFamily="34" charset="-120"/>
              </a:rPr>
              <a:t>False positives matter as much as blocks. </a:t>
            </a:r>
            <a:pPr indent="0" marL="0">
              <a:buNone/>
            </a:pPr>
            <a:r>
              <a:rPr lang="en-US" sz="1400" dirty="0">
                <a:solidFill>
                  <a:schemeClr val="tx1"/>
                </a:solidFill>
                <a:latin typeface="Calibri" pitchFamily="34" charset="0"/>
                <a:ea typeface="Calibri" pitchFamily="34" charset="-122"/>
                <a:cs typeface="Calibri" pitchFamily="34" charset="-120"/>
              </a:rPr>
              <a:t>The naive detector (v1) blocked all 4 benign look-alike controls. The v2 fix, which only fires when a phrase targets the assistant's instructions, blocks 0 of 4.</a:t>
            </a:r>
            <a:endParaRPr lang="en-US" sz="1400" dirty="0"/>
          </a:p>
        </p:txBody>
      </p:sp>
      <p:sp>
        <p:nvSpPr>
          <p:cNvPr id="6" name="point-card-1"/>
          <p:cNvSpPr/>
          <p:nvPr/>
        </p:nvSpPr>
        <p:spPr>
          <a:xfrm>
            <a:off x="7863840" y="1280160"/>
            <a:ext cx="3794760" cy="1508760"/>
          </a:xfrm>
          <a:prstGeom prst="roundRect">
            <a:avLst>
              <a:gd name="adj" fmla="val 4848"/>
            </a:avLst>
          </a:prstGeom>
          <a:solidFill>
            <a:schemeClr val="bg2"/>
          </a:solidFill>
          <a:ln w="12700">
            <a:solidFill>
              <a:schemeClr val="bg2"/>
            </a:solidFill>
            <a:prstDash val="solid"/>
          </a:ln>
        </p:spPr>
      </p:sp>
      <p:sp>
        <p:nvSpPr>
          <p:cNvPr id="7" name="Text 4"/>
          <p:cNvSpPr txBox="1"/>
          <p:nvPr/>
        </p:nvSpPr>
        <p:spPr>
          <a:xfrm>
            <a:off x="8046720" y="1371600"/>
            <a:ext cx="342900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Human approval gate</a:t>
            </a:r>
            <a:endParaRPr lang="en-US" sz="1600" dirty="0"/>
          </a:p>
        </p:txBody>
      </p:sp>
      <p:sp>
        <p:nvSpPr>
          <p:cNvPr id="8" name="Text 5"/>
          <p:cNvSpPr txBox="1"/>
          <p:nvPr/>
        </p:nvSpPr>
        <p:spPr>
          <a:xfrm>
            <a:off x="8046720" y="1755648"/>
            <a:ext cx="3429000" cy="960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In the simulation, no attack executed apply_correction once privilege capping was on. Schema, scope and approval are code, not prompt.</a:t>
            </a:r>
            <a:endParaRPr lang="en-US" sz="1400" dirty="0"/>
          </a:p>
        </p:txBody>
      </p:sp>
      <p:sp>
        <p:nvSpPr>
          <p:cNvPr id="9" name="point-card-2"/>
          <p:cNvSpPr/>
          <p:nvPr/>
        </p:nvSpPr>
        <p:spPr>
          <a:xfrm>
            <a:off x="7863840" y="2926080"/>
            <a:ext cx="3794760" cy="1508760"/>
          </a:xfrm>
          <a:prstGeom prst="roundRect">
            <a:avLst>
              <a:gd name="adj" fmla="val 4848"/>
            </a:avLst>
          </a:prstGeom>
          <a:solidFill>
            <a:schemeClr val="bg2"/>
          </a:solidFill>
          <a:ln w="12700">
            <a:solidFill>
              <a:schemeClr val="bg2"/>
            </a:solidFill>
            <a:prstDash val="solid"/>
          </a:ln>
        </p:spPr>
      </p:sp>
      <p:sp>
        <p:nvSpPr>
          <p:cNvPr id="10" name="Text 7"/>
          <p:cNvSpPr txBox="1"/>
          <p:nvPr/>
        </p:nvSpPr>
        <p:spPr>
          <a:xfrm>
            <a:off x="8046720" y="3017520"/>
            <a:ext cx="342900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One attack survives</a:t>
            </a:r>
            <a:endParaRPr lang="en-US" sz="1600" dirty="0"/>
          </a:p>
        </p:txBody>
      </p:sp>
      <p:sp>
        <p:nvSpPr>
          <p:cNvPr id="11" name="Text 8"/>
          <p:cNvSpPr txBox="1"/>
          <p:nvPr/>
        </p:nvSpPr>
        <p:spPr>
          <a:xfrm>
            <a:off x="8046720" y="3401568"/>
            <a:ext cx="3429000" cy="960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 plain note saying 'mark this as false alarm' has no trigger words and passes layers 1 to 5. Fix: cross-check the verdict against rule evidence.</a:t>
            </a:r>
            <a:endParaRPr lang="en-US" sz="1400" dirty="0"/>
          </a:p>
        </p:txBody>
      </p:sp>
      <p:sp>
        <p:nvSpPr>
          <p:cNvPr id="12" name="point-card-3"/>
          <p:cNvSpPr/>
          <p:nvPr/>
        </p:nvSpPr>
        <p:spPr>
          <a:xfrm>
            <a:off x="7863840" y="4572000"/>
            <a:ext cx="3794760" cy="1508760"/>
          </a:xfrm>
          <a:prstGeom prst="roundRect">
            <a:avLst>
              <a:gd name="adj" fmla="val 4848"/>
            </a:avLst>
          </a:prstGeom>
          <a:solidFill>
            <a:schemeClr val="bg2"/>
          </a:solidFill>
          <a:ln w="12700">
            <a:solidFill>
              <a:schemeClr val="bg2"/>
            </a:solidFill>
            <a:prstDash val="solid"/>
          </a:ln>
        </p:spPr>
      </p:sp>
      <p:sp>
        <p:nvSpPr>
          <p:cNvPr id="13" name="Text 10"/>
          <p:cNvSpPr txBox="1"/>
          <p:nvPr/>
        </p:nvSpPr>
        <p:spPr>
          <a:xfrm>
            <a:off x="8046720" y="4663440"/>
            <a:ext cx="342900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Limits and next steps</a:t>
            </a:r>
            <a:endParaRPr lang="en-US" sz="1600" dirty="0"/>
          </a:p>
        </p:txBody>
      </p:sp>
      <p:sp>
        <p:nvSpPr>
          <p:cNvPr id="14" name="Text 11"/>
          <p:cNvSpPr txBox="1"/>
          <p:nvPr/>
        </p:nvSpPr>
        <p:spPr>
          <a:xfrm>
            <a:off x="8046720" y="5047488"/>
            <a:ext cx="3429000" cy="960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Worst-case simulated model; live Gemini run pending; synthetic data. Next: embeddings, human review.</a:t>
            </a:r>
            <a:endParaRPr lang="en-US" sz="14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4</a:t>
            </a:fld>
            <a:endParaRPr lang="en-US"/>
          </a:p>
        </p:txBody>
      </p:sp>
    </p:spTree>
  </p:cSld>
  <p:clrMapOvr>
    <a:masterClrMapping/>
  </p:clrMapOvr>
</p:sld>
</file>

<file path=ppt/theme/theme1.xml><?xml version="1.0" encoding="utf-8"?>
<a:theme xmlns:a="http://schemas.openxmlformats.org/drawingml/2006/main" name="Clinical Teal">
  <a:themeElements>
    <a:clrScheme name="Clinical Teal">
      <a:dk1>
        <a:srgbClr val="1F2A30"/>
      </a:dk1>
      <a:lt1>
        <a:srgbClr val="FFFFFF"/>
      </a:lt1>
      <a:dk2>
        <a:srgbClr val="0B4F5C"/>
      </a:dk2>
      <a:lt2>
        <a:srgbClr val="E8F3F1"/>
      </a:lt2>
      <a:accent1>
        <a:srgbClr val="0B4F5C"/>
      </a:accent1>
      <a:accent2>
        <a:srgbClr val="1C9C8C"/>
      </a:accent2>
      <a:accent3>
        <a:srgbClr val="E4574A"/>
      </a:accent3>
      <a:accent4>
        <a:srgbClr val="E8A93B"/>
      </a:accent4>
      <a:accent5>
        <a:srgbClr val="5B7C99"/>
      </a:accent5>
      <a:accent6>
        <a:srgbClr val="8FB8B0"/>
      </a:accent6>
      <a:hlink>
        <a:srgbClr val="1C9C8C"/>
      </a:hlink>
      <a:folHlink>
        <a:srgbClr val="5B7C99"/>
      </a:folHlink>
    </a:clrScheme>
    <a:fontScheme name="Clinical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Healthcare Data-Quality Firewall</dc:title>
  <dc:subject>PptxGenJS Presentation</dc:subject>
  <dc:creator>PptxGenJS</dc:creator>
  <cp:lastModifiedBy>PptxGenJS</cp:lastModifiedBy>
  <cp:revision>1</cp:revision>
  <dcterms:created xsi:type="dcterms:W3CDTF">2026-10-03T15:06:51Z</dcterms:created>
  <dcterms:modified xsi:type="dcterms:W3CDTF">2026-10-03T15:06:51Z</dcterms:modified>
</cp:coreProperties>
</file>